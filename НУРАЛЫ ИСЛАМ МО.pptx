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5" r:id="rId10"/>
  </p:sldIdLst>
  <p:sldSz cx="9144000" cy="5143500" type="screen16x9"/>
  <p:notesSz cx="5143500" cy="9144000"/>
  <p:defaultTextStyle>
    <a:defPPr>
      <a:defRPr lang="ru-K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6340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E"/>
          </a:solidFill>
          <a:ln/>
        </p:spPr>
      </p:sp>
      <p:sp>
        <p:nvSpPr>
          <p:cNvPr id="3" name="Shape 1"/>
          <p:cNvSpPr/>
          <p:nvPr/>
        </p:nvSpPr>
        <p:spPr>
          <a:xfrm>
            <a:off x="0" y="0"/>
            <a:ext cx="9144000" cy="51435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E"/>
          </a:solidFill>
          <a:ln/>
        </p:spPr>
      </p:sp>
      <p:sp>
        <p:nvSpPr>
          <p:cNvPr id="3" name="Shape 1"/>
          <p:cNvSpPr/>
          <p:nvPr/>
        </p:nvSpPr>
        <p:spPr>
          <a:xfrm>
            <a:off x="0" y="0"/>
            <a:ext cx="9144000" cy="51435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E"/>
          </a:solidFill>
          <a:ln/>
        </p:spPr>
      </p:sp>
      <p:sp>
        <p:nvSpPr>
          <p:cNvPr id="3" name="Shape 1"/>
          <p:cNvSpPr/>
          <p:nvPr/>
        </p:nvSpPr>
        <p:spPr>
          <a:xfrm>
            <a:off x="0" y="0"/>
            <a:ext cx="9144000" cy="51435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E"/>
          </a:solidFill>
          <a:ln/>
        </p:spPr>
      </p:sp>
      <p:sp>
        <p:nvSpPr>
          <p:cNvPr id="3" name="Shape 1"/>
          <p:cNvSpPr/>
          <p:nvPr/>
        </p:nvSpPr>
        <p:spPr>
          <a:xfrm>
            <a:off x="0" y="0"/>
            <a:ext cx="9144000" cy="51435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E"/>
          </a:solidFill>
          <a:ln/>
        </p:spPr>
      </p:sp>
      <p:sp>
        <p:nvSpPr>
          <p:cNvPr id="3" name="Shape 1"/>
          <p:cNvSpPr/>
          <p:nvPr/>
        </p:nvSpPr>
        <p:spPr>
          <a:xfrm>
            <a:off x="0" y="0"/>
            <a:ext cx="9144000" cy="51435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E"/>
          </a:solidFill>
          <a:ln/>
        </p:spPr>
      </p:sp>
      <p:sp>
        <p:nvSpPr>
          <p:cNvPr id="3" name="Shape 1"/>
          <p:cNvSpPr/>
          <p:nvPr/>
        </p:nvSpPr>
        <p:spPr>
          <a:xfrm>
            <a:off x="0" y="0"/>
            <a:ext cx="9144000" cy="51435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E"/>
          </a:solidFill>
          <a:ln/>
        </p:spPr>
      </p:sp>
      <p:sp>
        <p:nvSpPr>
          <p:cNvPr id="3" name="Shape 1"/>
          <p:cNvSpPr/>
          <p:nvPr/>
        </p:nvSpPr>
        <p:spPr>
          <a:xfrm>
            <a:off x="0" y="0"/>
            <a:ext cx="9144000" cy="51435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E"/>
          </a:solidFill>
          <a:ln/>
        </p:spPr>
      </p:sp>
      <p:sp>
        <p:nvSpPr>
          <p:cNvPr id="3" name="Shape 1"/>
          <p:cNvSpPr/>
          <p:nvPr/>
        </p:nvSpPr>
        <p:spPr>
          <a:xfrm>
            <a:off x="0" y="0"/>
            <a:ext cx="9144000" cy="51435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E"/>
          </a:solidFill>
          <a:ln/>
        </p:spPr>
      </p:sp>
      <p:sp>
        <p:nvSpPr>
          <p:cNvPr id="3" name="Shape 1"/>
          <p:cNvSpPr/>
          <p:nvPr/>
        </p:nvSpPr>
        <p:spPr>
          <a:xfrm>
            <a:off x="0" y="0"/>
            <a:ext cx="9144000" cy="51435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E"/>
          </a:solidFill>
          <a:ln/>
        </p:spPr>
      </p:sp>
      <p:sp>
        <p:nvSpPr>
          <p:cNvPr id="3" name="Shape 1"/>
          <p:cNvSpPr/>
          <p:nvPr/>
        </p:nvSpPr>
        <p:spPr>
          <a:xfrm>
            <a:off x="0" y="0"/>
            <a:ext cx="9144000" cy="51435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554733"/>
            <a:ext cx="4722763" cy="775097"/>
          </a:xfrm>
          <a:prstGeom prst="rect">
            <a:avLst/>
          </a:prstGeom>
          <a:noFill/>
          <a:ln/>
        </p:spPr>
        <p:txBody>
          <a:bodyPr wrap="square" lIns="0" tIns="0" rIns="0" bIns="0" rtlCol="0" anchor="t"/>
          <a:lstStyle/>
          <a:p>
            <a:pPr marL="0" indent="0" algn="l">
              <a:lnSpc>
                <a:spcPts val="3050"/>
              </a:lnSpc>
              <a:buNone/>
            </a:pPr>
            <a:r>
              <a:rPr lang="en-US" sz="2800" b="1" dirty="0">
                <a:solidFill>
                  <a:srgbClr val="101014"/>
                </a:solidFill>
                <a:latin typeface="Times New Roman" panose="02020603050405020304" pitchFamily="18" charset="0"/>
                <a:ea typeface="Playfair Display Bold" pitchFamily="34" charset="-122"/>
                <a:cs typeface="Times New Roman" panose="02020603050405020304" pitchFamily="18" charset="0"/>
              </a:rPr>
              <a:t>Үй бағасын болжайтын модель</a:t>
            </a:r>
            <a:endParaRPr lang="en-US" sz="2800" dirty="0"/>
          </a:p>
        </p:txBody>
      </p:sp>
      <p:sp>
        <p:nvSpPr>
          <p:cNvPr id="4" name="Text 1"/>
          <p:cNvSpPr/>
          <p:nvPr/>
        </p:nvSpPr>
        <p:spPr>
          <a:xfrm>
            <a:off x="496119" y="2515865"/>
            <a:ext cx="4722763" cy="396925"/>
          </a:xfrm>
          <a:prstGeom prst="rect">
            <a:avLst/>
          </a:prstGeom>
          <a:noFill/>
          <a:ln/>
        </p:spPr>
        <p:txBody>
          <a:bodyPr wrap="square" lIns="0" tIns="0" rIns="0" bIns="0" rtlCol="0" anchor="t"/>
          <a:lstStyle/>
          <a:p>
            <a:pPr marL="0" indent="0" algn="l">
              <a:lnSpc>
                <a:spcPts val="1550"/>
              </a:lnSpc>
              <a:buNone/>
            </a:pPr>
            <a:r>
              <a:rPr lang="en-US" sz="950" dirty="0">
                <a:solidFill>
                  <a:srgbClr val="39393C"/>
                </a:solidFill>
                <a:latin typeface="Times New Roman" panose="02020603050405020304" pitchFamily="18" charset="0"/>
                <a:ea typeface="Open Sans" pitchFamily="34" charset="-122"/>
                <a:cs typeface="Times New Roman" panose="02020603050405020304" pitchFamily="18" charset="0"/>
              </a:rPr>
              <a:t>Машиналық оқыту арқылы Қызылорда қаласының жылжымайтын мүлік нарығын талдау</a:t>
            </a:r>
            <a:endParaRPr lang="en-US" sz="950" dirty="0"/>
          </a:p>
        </p:txBody>
      </p:sp>
      <p:sp>
        <p:nvSpPr>
          <p:cNvPr id="5" name="Text 2"/>
          <p:cNvSpPr/>
          <p:nvPr/>
        </p:nvSpPr>
        <p:spPr>
          <a:xfrm>
            <a:off x="496119" y="3052316"/>
            <a:ext cx="4722763" cy="198462"/>
          </a:xfrm>
          <a:prstGeom prst="rect">
            <a:avLst/>
          </a:prstGeom>
          <a:noFill/>
          <a:ln/>
        </p:spPr>
        <p:txBody>
          <a:bodyPr wrap="none" lIns="0" tIns="0" rIns="0" bIns="0" rtlCol="0" anchor="t"/>
          <a:lstStyle/>
          <a:p>
            <a:pPr marL="0" indent="0" algn="l">
              <a:lnSpc>
                <a:spcPts val="1550"/>
              </a:lnSpc>
              <a:buNone/>
            </a:pPr>
            <a:r>
              <a:rPr lang="en-US" sz="950" b="1" dirty="0">
                <a:solidFill>
                  <a:srgbClr val="39393C"/>
                </a:solidFill>
                <a:latin typeface="Times New Roman" panose="02020603050405020304" pitchFamily="18" charset="0"/>
                <a:ea typeface="Open Sans" pitchFamily="34" charset="-122"/>
                <a:cs typeface="Times New Roman" panose="02020603050405020304" pitchFamily="18" charset="0"/>
              </a:rPr>
              <a:t>Орындағандар:</a:t>
            </a:r>
            <a:r>
              <a:rPr lang="en-US" sz="950" dirty="0">
                <a:solidFill>
                  <a:srgbClr val="39393C"/>
                </a:solidFill>
                <a:latin typeface="Times New Roman" panose="02020603050405020304" pitchFamily="18" charset="0"/>
                <a:ea typeface="Open Sans" pitchFamily="34" charset="-122"/>
                <a:cs typeface="Times New Roman" panose="02020603050405020304" pitchFamily="18" charset="0"/>
              </a:rPr>
              <a:t> Ашабай Нұралы, Маратұлы Ислам</a:t>
            </a:r>
            <a:endParaRPr lang="en-US" sz="950" dirty="0"/>
          </a:p>
        </p:txBody>
      </p:sp>
      <p:sp>
        <p:nvSpPr>
          <p:cNvPr id="6" name="Text 3"/>
          <p:cNvSpPr/>
          <p:nvPr/>
        </p:nvSpPr>
        <p:spPr>
          <a:xfrm>
            <a:off x="496119" y="3390305"/>
            <a:ext cx="4722763" cy="198462"/>
          </a:xfrm>
          <a:prstGeom prst="rect">
            <a:avLst/>
          </a:prstGeom>
          <a:noFill/>
          <a:ln/>
        </p:spPr>
        <p:txBody>
          <a:bodyPr wrap="none" lIns="0" tIns="0" rIns="0" bIns="0" rtlCol="0" anchor="t"/>
          <a:lstStyle/>
          <a:p>
            <a:pPr marL="0" indent="0" algn="l">
              <a:lnSpc>
                <a:spcPts val="1550"/>
              </a:lnSpc>
              <a:buNone/>
            </a:pPr>
            <a:r>
              <a:rPr lang="en-US" sz="950" b="1" dirty="0">
                <a:solidFill>
                  <a:srgbClr val="39393C"/>
                </a:solidFill>
                <a:latin typeface="Times New Roman" panose="02020603050405020304" pitchFamily="18" charset="0"/>
                <a:ea typeface="Open Sans" pitchFamily="34" charset="-122"/>
                <a:cs typeface="Times New Roman" panose="02020603050405020304" pitchFamily="18" charset="0"/>
              </a:rPr>
              <a:t>Пәні:</a:t>
            </a:r>
            <a:r>
              <a:rPr lang="en-US" sz="950" dirty="0">
                <a:solidFill>
                  <a:srgbClr val="39393C"/>
                </a:solidFill>
                <a:latin typeface="Times New Roman" panose="02020603050405020304" pitchFamily="18" charset="0"/>
                <a:ea typeface="Open Sans" pitchFamily="34" charset="-122"/>
                <a:cs typeface="Times New Roman" panose="02020603050405020304" pitchFamily="18" charset="0"/>
              </a:rPr>
              <a:t> Машиналық оқыту (Machine Learning) </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57349" y="317004"/>
            <a:ext cx="4696123" cy="357336"/>
          </a:xfrm>
          <a:prstGeom prst="rect">
            <a:avLst/>
          </a:prstGeom>
          <a:noFill/>
          <a:ln/>
        </p:spPr>
        <p:txBody>
          <a:bodyPr wrap="none" lIns="0" tIns="0" rIns="0" bIns="0" rtlCol="0" anchor="t"/>
          <a:lstStyle/>
          <a:p>
            <a:pPr marL="0" indent="0" algn="l">
              <a:lnSpc>
                <a:spcPts val="2800"/>
              </a:lnSpc>
              <a:buNone/>
            </a:pPr>
            <a:r>
              <a:rPr lang="en-US" sz="2250" b="1" dirty="0">
                <a:solidFill>
                  <a:srgbClr val="101014"/>
                </a:solidFill>
                <a:latin typeface="Times New Roman" panose="02020603050405020304" pitchFamily="18" charset="0"/>
                <a:ea typeface="Playfair Display Bold" pitchFamily="34" charset="-122"/>
                <a:cs typeface="Times New Roman" panose="02020603050405020304" pitchFamily="18" charset="0"/>
              </a:rPr>
              <a:t>Жобаның өзектілігі мен мақсаты</a:t>
            </a:r>
            <a:endParaRPr lang="en-US" sz="2250" dirty="0"/>
          </a:p>
        </p:txBody>
      </p:sp>
      <p:sp>
        <p:nvSpPr>
          <p:cNvPr id="4" name="Shape 1"/>
          <p:cNvSpPr/>
          <p:nvPr/>
        </p:nvSpPr>
        <p:spPr>
          <a:xfrm>
            <a:off x="457349" y="832470"/>
            <a:ext cx="4800302" cy="1202457"/>
          </a:xfrm>
          <a:prstGeom prst="roundRect">
            <a:avLst>
              <a:gd name="adj" fmla="val 5703"/>
            </a:avLst>
          </a:prstGeom>
          <a:solidFill>
            <a:srgbClr val="F3F3F7"/>
          </a:solidFill>
          <a:ln w="14288">
            <a:solidFill>
              <a:srgbClr val="C6C6D2"/>
            </a:solidFill>
            <a:prstDash val="solid"/>
          </a:ln>
        </p:spPr>
      </p:sp>
      <p:sp>
        <p:nvSpPr>
          <p:cNvPr id="5" name="Shape 2"/>
          <p:cNvSpPr/>
          <p:nvPr/>
        </p:nvSpPr>
        <p:spPr>
          <a:xfrm>
            <a:off x="443061" y="832470"/>
            <a:ext cx="57150" cy="1202457"/>
          </a:xfrm>
          <a:prstGeom prst="roundRect">
            <a:avLst>
              <a:gd name="adj" fmla="val 30015"/>
            </a:avLst>
          </a:prstGeom>
          <a:solidFill>
            <a:srgbClr val="101014"/>
          </a:solidFill>
          <a:ln/>
        </p:spPr>
      </p:sp>
      <p:sp>
        <p:nvSpPr>
          <p:cNvPr id="6" name="Text 3"/>
          <p:cNvSpPr/>
          <p:nvPr/>
        </p:nvSpPr>
        <p:spPr>
          <a:xfrm>
            <a:off x="628799" y="961058"/>
            <a:ext cx="1429420" cy="178668"/>
          </a:xfrm>
          <a:prstGeom prst="rect">
            <a:avLst/>
          </a:prstGeom>
          <a:noFill/>
          <a:ln/>
        </p:spPr>
        <p:txBody>
          <a:bodyPr wrap="none" lIns="0" tIns="0" rIns="0" bIns="0" rtlCol="0" anchor="t"/>
          <a:lstStyle/>
          <a:p>
            <a:pPr marL="0" indent="0" algn="l">
              <a:lnSpc>
                <a:spcPts val="1400"/>
              </a:lnSpc>
              <a:buNone/>
            </a:pPr>
            <a:r>
              <a:rPr lang="en-US" sz="1100" b="1" dirty="0">
                <a:solidFill>
                  <a:srgbClr val="39393C"/>
                </a:solidFill>
                <a:latin typeface="Times New Roman" panose="02020603050405020304" pitchFamily="18" charset="0"/>
                <a:ea typeface="Playfair Display Bold" pitchFamily="34" charset="-122"/>
                <a:cs typeface="Times New Roman" panose="02020603050405020304" pitchFamily="18" charset="0"/>
              </a:rPr>
              <a:t>Өзектілік</a:t>
            </a:r>
            <a:endParaRPr lang="en-US" sz="1100" dirty="0"/>
          </a:p>
        </p:txBody>
      </p:sp>
      <p:sp>
        <p:nvSpPr>
          <p:cNvPr id="7" name="Text 4"/>
          <p:cNvSpPr/>
          <p:nvPr/>
        </p:nvSpPr>
        <p:spPr>
          <a:xfrm>
            <a:off x="628799" y="1202978"/>
            <a:ext cx="4500265" cy="703362"/>
          </a:xfrm>
          <a:prstGeom prst="rect">
            <a:avLst/>
          </a:prstGeom>
          <a:noFill/>
          <a:ln/>
        </p:spPr>
        <p:txBody>
          <a:bodyPr wrap="square" lIns="0" tIns="0" rIns="0" bIns="0" rtlCol="0" anchor="t"/>
          <a:lstStyle/>
          <a:p>
            <a:pPr marL="0" indent="0" algn="l">
              <a:lnSpc>
                <a:spcPts val="13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Жылжымайтын мүлік нарығында бағаның жоғары құбылмалылығы және баға белгілеудегі субъективті факторлардың көптігі нарық қатысушыларын қиын жағдайға қояды. Сатып алушылар да, сатушылар да нақты нарықтық бағаны анықтай алмай, жиі қателіктерге жол береді.</a:t>
            </a:r>
            <a:endParaRPr lang="en-US" sz="900" dirty="0"/>
          </a:p>
        </p:txBody>
      </p:sp>
      <p:sp>
        <p:nvSpPr>
          <p:cNvPr id="8" name="Shape 5"/>
          <p:cNvSpPr/>
          <p:nvPr/>
        </p:nvSpPr>
        <p:spPr>
          <a:xfrm>
            <a:off x="457349" y="2140297"/>
            <a:ext cx="4800302" cy="1378297"/>
          </a:xfrm>
          <a:prstGeom prst="roundRect">
            <a:avLst>
              <a:gd name="adj" fmla="val 4976"/>
            </a:avLst>
          </a:prstGeom>
          <a:solidFill>
            <a:srgbClr val="F3F3F7"/>
          </a:solidFill>
          <a:ln w="14288">
            <a:solidFill>
              <a:srgbClr val="C6C6D2"/>
            </a:solidFill>
            <a:prstDash val="solid"/>
          </a:ln>
        </p:spPr>
      </p:sp>
      <p:sp>
        <p:nvSpPr>
          <p:cNvPr id="9" name="Shape 6"/>
          <p:cNvSpPr/>
          <p:nvPr/>
        </p:nvSpPr>
        <p:spPr>
          <a:xfrm>
            <a:off x="443061" y="2140297"/>
            <a:ext cx="57150" cy="1378297"/>
          </a:xfrm>
          <a:prstGeom prst="roundRect">
            <a:avLst>
              <a:gd name="adj" fmla="val 30015"/>
            </a:avLst>
          </a:prstGeom>
          <a:solidFill>
            <a:srgbClr val="101014"/>
          </a:solidFill>
          <a:ln/>
        </p:spPr>
      </p:sp>
      <p:sp>
        <p:nvSpPr>
          <p:cNvPr id="10" name="Text 7"/>
          <p:cNvSpPr/>
          <p:nvPr/>
        </p:nvSpPr>
        <p:spPr>
          <a:xfrm>
            <a:off x="628799" y="2268885"/>
            <a:ext cx="1429420" cy="178668"/>
          </a:xfrm>
          <a:prstGeom prst="rect">
            <a:avLst/>
          </a:prstGeom>
          <a:noFill/>
          <a:ln/>
        </p:spPr>
        <p:txBody>
          <a:bodyPr wrap="none" lIns="0" tIns="0" rIns="0" bIns="0" rtlCol="0" anchor="t"/>
          <a:lstStyle/>
          <a:p>
            <a:pPr marL="0" indent="0" algn="l">
              <a:lnSpc>
                <a:spcPts val="1400"/>
              </a:lnSpc>
              <a:buNone/>
            </a:pPr>
            <a:r>
              <a:rPr lang="en-US" sz="1100" b="1" dirty="0">
                <a:solidFill>
                  <a:srgbClr val="39393C"/>
                </a:solidFill>
                <a:latin typeface="Times New Roman" panose="02020603050405020304" pitchFamily="18" charset="0"/>
                <a:ea typeface="Playfair Display Bold" pitchFamily="34" charset="-122"/>
                <a:cs typeface="Times New Roman" panose="02020603050405020304" pitchFamily="18" charset="0"/>
              </a:rPr>
              <a:t>Мәселе</a:t>
            </a:r>
            <a:endParaRPr lang="en-US" sz="1100" dirty="0"/>
          </a:p>
        </p:txBody>
      </p:sp>
      <p:sp>
        <p:nvSpPr>
          <p:cNvPr id="11" name="Text 8"/>
          <p:cNvSpPr/>
          <p:nvPr/>
        </p:nvSpPr>
        <p:spPr>
          <a:xfrm>
            <a:off x="628799" y="2510805"/>
            <a:ext cx="4500265" cy="879202"/>
          </a:xfrm>
          <a:prstGeom prst="rect">
            <a:avLst/>
          </a:prstGeom>
          <a:noFill/>
          <a:ln/>
        </p:spPr>
        <p:txBody>
          <a:bodyPr wrap="square" lIns="0" tIns="0" rIns="0" bIns="0" rtlCol="0" anchor="t"/>
          <a:lstStyle/>
          <a:p>
            <a:pPr marL="0" indent="0" algn="l">
              <a:lnSpc>
                <a:spcPts val="13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Валюта бағамының (USD/KZT) баспана құнына әсерін нақты есептейтін құралдардың тапшылығы — нарықта мұндай аналитикалық шешімдер іс жүзінде жоқ. Доллар курсының ауытқуы тұрғын үй бағасына тікелей әсер еткенде, пайдаланушылардың қолында нақты болжам жасайтын инструмент болмайды.</a:t>
            </a:r>
            <a:endParaRPr lang="en-US" sz="900" dirty="0"/>
          </a:p>
        </p:txBody>
      </p:sp>
      <p:sp>
        <p:nvSpPr>
          <p:cNvPr id="12" name="Shape 9"/>
          <p:cNvSpPr/>
          <p:nvPr/>
        </p:nvSpPr>
        <p:spPr>
          <a:xfrm>
            <a:off x="457349" y="3623965"/>
            <a:ext cx="4800302" cy="1202457"/>
          </a:xfrm>
          <a:prstGeom prst="roundRect">
            <a:avLst>
              <a:gd name="adj" fmla="val 5703"/>
            </a:avLst>
          </a:prstGeom>
          <a:solidFill>
            <a:srgbClr val="F3F3F7"/>
          </a:solidFill>
          <a:ln w="14288">
            <a:solidFill>
              <a:srgbClr val="C6C6D2"/>
            </a:solidFill>
            <a:prstDash val="solid"/>
          </a:ln>
        </p:spPr>
      </p:sp>
      <p:sp>
        <p:nvSpPr>
          <p:cNvPr id="13" name="Shape 10"/>
          <p:cNvSpPr/>
          <p:nvPr/>
        </p:nvSpPr>
        <p:spPr>
          <a:xfrm>
            <a:off x="443061" y="3623965"/>
            <a:ext cx="57150" cy="1202457"/>
          </a:xfrm>
          <a:prstGeom prst="roundRect">
            <a:avLst>
              <a:gd name="adj" fmla="val 30015"/>
            </a:avLst>
          </a:prstGeom>
          <a:solidFill>
            <a:srgbClr val="101014"/>
          </a:solidFill>
          <a:ln/>
        </p:spPr>
      </p:sp>
      <p:sp>
        <p:nvSpPr>
          <p:cNvPr id="14" name="Text 11"/>
          <p:cNvSpPr/>
          <p:nvPr/>
        </p:nvSpPr>
        <p:spPr>
          <a:xfrm>
            <a:off x="628799" y="3752552"/>
            <a:ext cx="1429420" cy="178668"/>
          </a:xfrm>
          <a:prstGeom prst="rect">
            <a:avLst/>
          </a:prstGeom>
          <a:noFill/>
          <a:ln/>
        </p:spPr>
        <p:txBody>
          <a:bodyPr wrap="none" lIns="0" tIns="0" rIns="0" bIns="0" rtlCol="0" anchor="t"/>
          <a:lstStyle/>
          <a:p>
            <a:pPr marL="0" indent="0" algn="l">
              <a:lnSpc>
                <a:spcPts val="1400"/>
              </a:lnSpc>
              <a:buNone/>
            </a:pPr>
            <a:r>
              <a:rPr lang="en-US" sz="1100" b="1" dirty="0">
                <a:solidFill>
                  <a:srgbClr val="39393C"/>
                </a:solidFill>
                <a:latin typeface="Times New Roman" panose="02020603050405020304" pitchFamily="18" charset="0"/>
                <a:ea typeface="Playfair Display Bold" pitchFamily="34" charset="-122"/>
                <a:cs typeface="Times New Roman" panose="02020603050405020304" pitchFamily="18" charset="0"/>
              </a:rPr>
              <a:t>Мақсат</a:t>
            </a:r>
            <a:endParaRPr lang="en-US" sz="1100" dirty="0"/>
          </a:p>
        </p:txBody>
      </p:sp>
      <p:sp>
        <p:nvSpPr>
          <p:cNvPr id="15" name="Text 12"/>
          <p:cNvSpPr/>
          <p:nvPr/>
        </p:nvSpPr>
        <p:spPr>
          <a:xfrm>
            <a:off x="628799" y="3994472"/>
            <a:ext cx="4500265" cy="703362"/>
          </a:xfrm>
          <a:prstGeom prst="rect">
            <a:avLst/>
          </a:prstGeom>
          <a:noFill/>
          <a:ln/>
        </p:spPr>
        <p:txBody>
          <a:bodyPr wrap="square" lIns="0" tIns="0" rIns="0" bIns="0" rtlCol="0" anchor="t"/>
          <a:lstStyle/>
          <a:p>
            <a:pPr marL="0" indent="0" algn="l">
              <a:lnSpc>
                <a:spcPts val="13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Деректерді талдау арқылы Қызылорда қаласы үшін нақты нарықтық бағаны болжайтын интеллектуалды аналитикалық жүйе құру — риэлторлар, инвесторлар және жеке тұлғалар үшін дайын өнім ұсыну. Жүйе нарықтық шындықты деректер негізінде көрсетуге бағытталған.</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28576"/>
            <a:ext cx="5234285" cy="387548"/>
          </a:xfrm>
          <a:prstGeom prst="rect">
            <a:avLst/>
          </a:prstGeom>
          <a:noFill/>
          <a:ln/>
        </p:spPr>
        <p:txBody>
          <a:bodyPr wrap="none" lIns="0" tIns="0" rIns="0" bIns="0" rtlCol="0" anchor="t"/>
          <a:lstStyle/>
          <a:p>
            <a:pPr marL="0" indent="0" algn="l">
              <a:lnSpc>
                <a:spcPts val="3050"/>
              </a:lnSpc>
              <a:buNone/>
            </a:pPr>
            <a:r>
              <a:rPr lang="en-US" sz="2400" b="1" dirty="0">
                <a:solidFill>
                  <a:srgbClr val="101014"/>
                </a:solidFill>
                <a:latin typeface="Times New Roman" panose="02020603050405020304" pitchFamily="18" charset="0"/>
                <a:ea typeface="Playfair Display Bold" pitchFamily="34" charset="-122"/>
                <a:cs typeface="Times New Roman" panose="02020603050405020304" pitchFamily="18" charset="0"/>
              </a:rPr>
              <a:t>Пайдаланылған деректер (Dataset)</a:t>
            </a:r>
            <a:endParaRPr lang="en-US" sz="2400" dirty="0"/>
          </a:p>
        </p:txBody>
      </p:sp>
      <p:sp>
        <p:nvSpPr>
          <p:cNvPr id="3" name="Shape 1"/>
          <p:cNvSpPr/>
          <p:nvPr/>
        </p:nvSpPr>
        <p:spPr>
          <a:xfrm>
            <a:off x="406822" y="1202159"/>
            <a:ext cx="4103191" cy="3312765"/>
          </a:xfrm>
          <a:prstGeom prst="roundRect">
            <a:avLst>
              <a:gd name="adj" fmla="val 562"/>
            </a:avLst>
          </a:prstGeom>
          <a:solidFill>
            <a:srgbClr val="101014"/>
          </a:solidFill>
          <a:ln/>
        </p:spPr>
      </p:sp>
      <p:sp>
        <p:nvSpPr>
          <p:cNvPr id="4" name="Text 2"/>
          <p:cNvSpPr/>
          <p:nvPr/>
        </p:nvSpPr>
        <p:spPr>
          <a:xfrm>
            <a:off x="530796" y="1326133"/>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FFFFFF"/>
                </a:solidFill>
                <a:latin typeface="Times New Roman" panose="02020603050405020304" pitchFamily="18" charset="0"/>
                <a:ea typeface="Playfair Display Bold" pitchFamily="34" charset="-122"/>
                <a:cs typeface="Times New Roman" panose="02020603050405020304" pitchFamily="18" charset="0"/>
              </a:rPr>
              <a:t>Бастапқы база</a:t>
            </a:r>
            <a:endParaRPr lang="en-US" sz="1200" dirty="0"/>
          </a:p>
        </p:txBody>
      </p:sp>
      <p:sp>
        <p:nvSpPr>
          <p:cNvPr id="5" name="Text 3"/>
          <p:cNvSpPr/>
          <p:nvPr/>
        </p:nvSpPr>
        <p:spPr>
          <a:xfrm>
            <a:off x="530796" y="1643955"/>
            <a:ext cx="3855244" cy="793849"/>
          </a:xfrm>
          <a:prstGeom prst="rect">
            <a:avLst/>
          </a:prstGeom>
          <a:noFill/>
          <a:ln/>
        </p:spPr>
        <p:txBody>
          <a:bodyPr wrap="square" lIns="0" tIns="0" rIns="0" bIns="0" rtlCol="0" anchor="t"/>
          <a:lstStyle/>
          <a:p>
            <a:pPr marL="0" indent="0" algn="l">
              <a:lnSpc>
                <a:spcPts val="1550"/>
              </a:lnSpc>
              <a:buNone/>
            </a:pPr>
            <a:r>
              <a:rPr lang="en-US" sz="950" dirty="0">
                <a:solidFill>
                  <a:srgbClr val="FFFFFF"/>
                </a:solidFill>
                <a:latin typeface="Times New Roman" panose="02020603050405020304" pitchFamily="18" charset="0"/>
                <a:ea typeface="Open Sans" pitchFamily="34" charset="-122"/>
                <a:cs typeface="Times New Roman" panose="02020603050405020304" pitchFamily="18" charset="0"/>
              </a:rPr>
              <a:t>California Housing Dataset — 20 640 жазбадан тұратын әлемдік стандартты деректер жиынтығы. Бұл деректер үй бағасын болжау саласында кеңінен қолданылатын сенімді база болып табылады.</a:t>
            </a:r>
            <a:endParaRPr lang="en-US" sz="950" dirty="0"/>
          </a:p>
        </p:txBody>
      </p:sp>
      <p:sp>
        <p:nvSpPr>
          <p:cNvPr id="6" name="Text 4"/>
          <p:cNvSpPr/>
          <p:nvPr/>
        </p:nvSpPr>
        <p:spPr>
          <a:xfrm>
            <a:off x="530796" y="2561779"/>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FFFFFF"/>
                </a:solidFill>
                <a:latin typeface="Times New Roman" panose="02020603050405020304" pitchFamily="18" charset="0"/>
                <a:ea typeface="Playfair Display Bold" pitchFamily="34" charset="-122"/>
                <a:cs typeface="Times New Roman" panose="02020603050405020304" pitchFamily="18" charset="0"/>
              </a:rPr>
              <a:t>Трансформация</a:t>
            </a:r>
            <a:endParaRPr lang="en-US" sz="1200" dirty="0"/>
          </a:p>
        </p:txBody>
      </p:sp>
      <p:sp>
        <p:nvSpPr>
          <p:cNvPr id="7" name="Text 5"/>
          <p:cNvSpPr/>
          <p:nvPr/>
        </p:nvSpPr>
        <p:spPr>
          <a:xfrm>
            <a:off x="530796" y="2879601"/>
            <a:ext cx="3855244" cy="595387"/>
          </a:xfrm>
          <a:prstGeom prst="rect">
            <a:avLst/>
          </a:prstGeom>
          <a:noFill/>
          <a:ln/>
        </p:spPr>
        <p:txBody>
          <a:bodyPr wrap="square" lIns="0" tIns="0" rIns="0" bIns="0" rtlCol="0" anchor="t"/>
          <a:lstStyle/>
          <a:p>
            <a:pPr marL="0" indent="0" algn="l">
              <a:lnSpc>
                <a:spcPts val="1550"/>
              </a:lnSpc>
              <a:buNone/>
            </a:pPr>
            <a:r>
              <a:rPr lang="en-US" sz="950" dirty="0">
                <a:solidFill>
                  <a:srgbClr val="FFFFFF"/>
                </a:solidFill>
                <a:latin typeface="Times New Roman" panose="02020603050405020304" pitchFamily="18" charset="0"/>
                <a:ea typeface="Open Sans" pitchFamily="34" charset="-122"/>
                <a:cs typeface="Times New Roman" panose="02020603050405020304" pitchFamily="18" charset="0"/>
              </a:rPr>
              <a:t>Әлемдік деректерді Қызылорда нарығына математикалық бейімдеу әдісі қолданылды. Локализация үшін 0.4 аймақтық индексі және 1.3 нарықтық түзету коэффициенттері енгізілді.</a:t>
            </a:r>
            <a:endParaRPr lang="en-US" sz="950" dirty="0"/>
          </a:p>
        </p:txBody>
      </p:sp>
      <p:sp>
        <p:nvSpPr>
          <p:cNvPr id="8" name="Text 6"/>
          <p:cNvSpPr/>
          <p:nvPr/>
        </p:nvSpPr>
        <p:spPr>
          <a:xfrm>
            <a:off x="4728046" y="1326133"/>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01014"/>
                </a:solidFill>
                <a:latin typeface="Times New Roman" panose="02020603050405020304" pitchFamily="18" charset="0"/>
                <a:ea typeface="Playfair Display Bold" pitchFamily="34" charset="-122"/>
                <a:cs typeface="Times New Roman" panose="02020603050405020304" pitchFamily="18" charset="0"/>
              </a:rPr>
              <a:t>Негізгі параметрлер</a:t>
            </a:r>
            <a:endParaRPr lang="en-US" sz="1200" dirty="0"/>
          </a:p>
        </p:txBody>
      </p:sp>
      <p:sp>
        <p:nvSpPr>
          <p:cNvPr id="9" name="Shape 7"/>
          <p:cNvSpPr/>
          <p:nvPr/>
        </p:nvSpPr>
        <p:spPr>
          <a:xfrm>
            <a:off x="4728046" y="1659508"/>
            <a:ext cx="1900312" cy="764232"/>
          </a:xfrm>
          <a:prstGeom prst="roundRect">
            <a:avLst>
              <a:gd name="adj" fmla="val 2435"/>
            </a:avLst>
          </a:prstGeom>
          <a:solidFill>
            <a:srgbClr val="E0E0EC"/>
          </a:solidFill>
          <a:ln/>
        </p:spPr>
      </p:sp>
      <p:sp>
        <p:nvSpPr>
          <p:cNvPr id="10" name="Text 8"/>
          <p:cNvSpPr/>
          <p:nvPr/>
        </p:nvSpPr>
        <p:spPr>
          <a:xfrm>
            <a:off x="4852020" y="1783482"/>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39393C"/>
                </a:solidFill>
                <a:latin typeface="Times New Roman" panose="02020603050405020304" pitchFamily="18" charset="0"/>
                <a:ea typeface="Playfair Display Bold" pitchFamily="34" charset="-122"/>
                <a:cs typeface="Times New Roman" panose="02020603050405020304" pitchFamily="18" charset="0"/>
              </a:rPr>
              <a:t>20 640</a:t>
            </a:r>
            <a:endParaRPr lang="en-US" sz="1200" dirty="0"/>
          </a:p>
        </p:txBody>
      </p:sp>
      <p:sp>
        <p:nvSpPr>
          <p:cNvPr id="11" name="Text 9"/>
          <p:cNvSpPr/>
          <p:nvPr/>
        </p:nvSpPr>
        <p:spPr>
          <a:xfrm>
            <a:off x="4852020" y="2101304"/>
            <a:ext cx="1652364" cy="198462"/>
          </a:xfrm>
          <a:prstGeom prst="rect">
            <a:avLst/>
          </a:prstGeom>
          <a:noFill/>
          <a:ln/>
        </p:spPr>
        <p:txBody>
          <a:bodyPr wrap="none" lIns="0" tIns="0" rIns="0" bIns="0" rtlCol="0" anchor="t"/>
          <a:lstStyle/>
          <a:p>
            <a:pPr marL="0" indent="0" algn="l">
              <a:lnSpc>
                <a:spcPts val="1550"/>
              </a:lnSpc>
              <a:buNone/>
            </a:pPr>
            <a:r>
              <a:rPr lang="en-US" sz="950" dirty="0">
                <a:solidFill>
                  <a:srgbClr val="39393C"/>
                </a:solidFill>
                <a:latin typeface="Times New Roman" panose="02020603050405020304" pitchFamily="18" charset="0"/>
                <a:ea typeface="Open Sans" pitchFamily="34" charset="-122"/>
                <a:cs typeface="Times New Roman" panose="02020603050405020304" pitchFamily="18" charset="0"/>
              </a:rPr>
              <a:t>Жазба саны</a:t>
            </a:r>
            <a:endParaRPr lang="en-US" sz="950" dirty="0"/>
          </a:p>
        </p:txBody>
      </p:sp>
      <p:sp>
        <p:nvSpPr>
          <p:cNvPr id="12" name="Shape 10"/>
          <p:cNvSpPr/>
          <p:nvPr/>
        </p:nvSpPr>
        <p:spPr>
          <a:xfrm>
            <a:off x="6752332" y="1659508"/>
            <a:ext cx="1900312" cy="764232"/>
          </a:xfrm>
          <a:prstGeom prst="roundRect">
            <a:avLst>
              <a:gd name="adj" fmla="val 2435"/>
            </a:avLst>
          </a:prstGeom>
          <a:solidFill>
            <a:srgbClr val="E0E0EC"/>
          </a:solidFill>
          <a:ln/>
        </p:spPr>
      </p:sp>
      <p:sp>
        <p:nvSpPr>
          <p:cNvPr id="13" name="Text 11"/>
          <p:cNvSpPr/>
          <p:nvPr/>
        </p:nvSpPr>
        <p:spPr>
          <a:xfrm>
            <a:off x="6876306" y="1783482"/>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39393C"/>
                </a:solidFill>
                <a:latin typeface="Times New Roman" panose="02020603050405020304" pitchFamily="18" charset="0"/>
                <a:ea typeface="Playfair Display Bold" pitchFamily="34" charset="-122"/>
                <a:cs typeface="Times New Roman" panose="02020603050405020304" pitchFamily="18" charset="0"/>
              </a:rPr>
              <a:t>0.4</a:t>
            </a:r>
            <a:endParaRPr lang="en-US" sz="1200" dirty="0"/>
          </a:p>
        </p:txBody>
      </p:sp>
      <p:sp>
        <p:nvSpPr>
          <p:cNvPr id="14" name="Text 12"/>
          <p:cNvSpPr/>
          <p:nvPr/>
        </p:nvSpPr>
        <p:spPr>
          <a:xfrm>
            <a:off x="6876306" y="2101304"/>
            <a:ext cx="1652364" cy="198462"/>
          </a:xfrm>
          <a:prstGeom prst="rect">
            <a:avLst/>
          </a:prstGeom>
          <a:noFill/>
          <a:ln/>
        </p:spPr>
        <p:txBody>
          <a:bodyPr wrap="none" lIns="0" tIns="0" rIns="0" bIns="0" rtlCol="0" anchor="t"/>
          <a:lstStyle/>
          <a:p>
            <a:pPr marL="0" indent="0" algn="l">
              <a:lnSpc>
                <a:spcPts val="1550"/>
              </a:lnSpc>
              <a:buNone/>
            </a:pPr>
            <a:r>
              <a:rPr lang="en-US" sz="950" dirty="0">
                <a:solidFill>
                  <a:srgbClr val="39393C"/>
                </a:solidFill>
                <a:latin typeface="Times New Roman" panose="02020603050405020304" pitchFamily="18" charset="0"/>
                <a:ea typeface="Open Sans" pitchFamily="34" charset="-122"/>
                <a:cs typeface="Times New Roman" panose="02020603050405020304" pitchFamily="18" charset="0"/>
              </a:rPr>
              <a:t>Аймақтық индекс</a:t>
            </a:r>
            <a:endParaRPr lang="en-US" sz="950" dirty="0"/>
          </a:p>
        </p:txBody>
      </p:sp>
      <p:sp>
        <p:nvSpPr>
          <p:cNvPr id="15" name="Shape 13"/>
          <p:cNvSpPr/>
          <p:nvPr/>
        </p:nvSpPr>
        <p:spPr>
          <a:xfrm>
            <a:off x="4728046" y="2547714"/>
            <a:ext cx="1900312" cy="764232"/>
          </a:xfrm>
          <a:prstGeom prst="roundRect">
            <a:avLst>
              <a:gd name="adj" fmla="val 2435"/>
            </a:avLst>
          </a:prstGeom>
          <a:solidFill>
            <a:srgbClr val="E0E0EC"/>
          </a:solidFill>
          <a:ln/>
        </p:spPr>
      </p:sp>
      <p:sp>
        <p:nvSpPr>
          <p:cNvPr id="16" name="Text 14"/>
          <p:cNvSpPr/>
          <p:nvPr/>
        </p:nvSpPr>
        <p:spPr>
          <a:xfrm>
            <a:off x="4852020" y="2671688"/>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39393C"/>
                </a:solidFill>
                <a:latin typeface="Times New Roman" panose="02020603050405020304" pitchFamily="18" charset="0"/>
                <a:ea typeface="Playfair Display Bold" pitchFamily="34" charset="-122"/>
                <a:cs typeface="Times New Roman" panose="02020603050405020304" pitchFamily="18" charset="0"/>
              </a:rPr>
              <a:t>1.3</a:t>
            </a:r>
            <a:endParaRPr lang="en-US" sz="1200" dirty="0"/>
          </a:p>
        </p:txBody>
      </p:sp>
      <p:sp>
        <p:nvSpPr>
          <p:cNvPr id="17" name="Text 15"/>
          <p:cNvSpPr/>
          <p:nvPr/>
        </p:nvSpPr>
        <p:spPr>
          <a:xfrm>
            <a:off x="4852020" y="2989511"/>
            <a:ext cx="1652364" cy="198462"/>
          </a:xfrm>
          <a:prstGeom prst="rect">
            <a:avLst/>
          </a:prstGeom>
          <a:noFill/>
          <a:ln/>
        </p:spPr>
        <p:txBody>
          <a:bodyPr wrap="none" lIns="0" tIns="0" rIns="0" bIns="0" rtlCol="0" anchor="t"/>
          <a:lstStyle/>
          <a:p>
            <a:pPr marL="0" indent="0" algn="l">
              <a:lnSpc>
                <a:spcPts val="1550"/>
              </a:lnSpc>
              <a:buNone/>
            </a:pPr>
            <a:r>
              <a:rPr lang="en-US" sz="950" dirty="0">
                <a:solidFill>
                  <a:srgbClr val="39393C"/>
                </a:solidFill>
                <a:latin typeface="Times New Roman" panose="02020603050405020304" pitchFamily="18" charset="0"/>
                <a:ea typeface="Open Sans" pitchFamily="34" charset="-122"/>
                <a:cs typeface="Times New Roman" panose="02020603050405020304" pitchFamily="18" charset="0"/>
              </a:rPr>
              <a:t>Нарықтық коэффициент</a:t>
            </a:r>
            <a:endParaRPr lang="en-US" sz="950" dirty="0"/>
          </a:p>
        </p:txBody>
      </p:sp>
      <p:sp>
        <p:nvSpPr>
          <p:cNvPr id="18" name="Shape 16"/>
          <p:cNvSpPr/>
          <p:nvPr/>
        </p:nvSpPr>
        <p:spPr>
          <a:xfrm>
            <a:off x="6752332" y="2547714"/>
            <a:ext cx="1900312" cy="764232"/>
          </a:xfrm>
          <a:prstGeom prst="roundRect">
            <a:avLst>
              <a:gd name="adj" fmla="val 2435"/>
            </a:avLst>
          </a:prstGeom>
          <a:solidFill>
            <a:srgbClr val="E0E0EC"/>
          </a:solidFill>
          <a:ln/>
        </p:spPr>
      </p:sp>
      <p:sp>
        <p:nvSpPr>
          <p:cNvPr id="19" name="Text 17"/>
          <p:cNvSpPr/>
          <p:nvPr/>
        </p:nvSpPr>
        <p:spPr>
          <a:xfrm>
            <a:off x="6876306" y="2671688"/>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39393C"/>
                </a:solidFill>
                <a:latin typeface="Times New Roman" panose="02020603050405020304" pitchFamily="18" charset="0"/>
                <a:ea typeface="Playfair Display Bold" pitchFamily="34" charset="-122"/>
                <a:cs typeface="Times New Roman" panose="02020603050405020304" pitchFamily="18" charset="0"/>
              </a:rPr>
              <a:t>450 ₸</a:t>
            </a:r>
            <a:endParaRPr lang="en-US" sz="1200" dirty="0"/>
          </a:p>
        </p:txBody>
      </p:sp>
      <p:sp>
        <p:nvSpPr>
          <p:cNvPr id="20" name="Text 18"/>
          <p:cNvSpPr/>
          <p:nvPr/>
        </p:nvSpPr>
        <p:spPr>
          <a:xfrm>
            <a:off x="6876306" y="2989511"/>
            <a:ext cx="1652364" cy="198462"/>
          </a:xfrm>
          <a:prstGeom prst="rect">
            <a:avLst/>
          </a:prstGeom>
          <a:noFill/>
          <a:ln/>
        </p:spPr>
        <p:txBody>
          <a:bodyPr wrap="none" lIns="0" tIns="0" rIns="0" bIns="0" rtlCol="0" anchor="t"/>
          <a:lstStyle/>
          <a:p>
            <a:pPr marL="0" indent="0" algn="l">
              <a:lnSpc>
                <a:spcPts val="1550"/>
              </a:lnSpc>
              <a:buNone/>
            </a:pPr>
            <a:r>
              <a:rPr lang="en-US" sz="950" dirty="0">
                <a:solidFill>
                  <a:srgbClr val="39393C"/>
                </a:solidFill>
                <a:latin typeface="Times New Roman" panose="02020603050405020304" pitchFamily="18" charset="0"/>
                <a:ea typeface="Open Sans" pitchFamily="34" charset="-122"/>
                <a:cs typeface="Times New Roman" panose="02020603050405020304" pitchFamily="18" charset="0"/>
              </a:rPr>
              <a:t>Базалық USD курсы</a:t>
            </a:r>
            <a:endParaRPr lang="en-US" sz="950" dirty="0"/>
          </a:p>
        </p:txBody>
      </p:sp>
      <p:sp>
        <p:nvSpPr>
          <p:cNvPr id="21" name="Shape 19"/>
          <p:cNvSpPr/>
          <p:nvPr/>
        </p:nvSpPr>
        <p:spPr>
          <a:xfrm>
            <a:off x="4728046" y="3451473"/>
            <a:ext cx="3924598" cy="923925"/>
          </a:xfrm>
          <a:prstGeom prst="roundRect">
            <a:avLst>
              <a:gd name="adj" fmla="val 2014"/>
            </a:avLst>
          </a:prstGeom>
          <a:solidFill>
            <a:srgbClr val="B6D6FC"/>
          </a:solidFill>
          <a:ln/>
        </p:spPr>
      </p:sp>
      <p:pic>
        <p:nvPicPr>
          <p:cNvPr id="22" name="Image 0" descr="preencoded.png"/>
          <p:cNvPicPr>
            <a:picLocks noChangeAspect="1"/>
          </p:cNvPicPr>
          <p:nvPr/>
        </p:nvPicPr>
        <p:blipFill>
          <a:blip r:embed="rId3"/>
          <a:stretch>
            <a:fillRect/>
          </a:stretch>
        </p:blipFill>
        <p:spPr>
          <a:xfrm>
            <a:off x="4852020" y="3640782"/>
            <a:ext cx="155004" cy="123974"/>
          </a:xfrm>
          <a:prstGeom prst="rect">
            <a:avLst/>
          </a:prstGeom>
        </p:spPr>
      </p:pic>
      <p:sp>
        <p:nvSpPr>
          <p:cNvPr id="23" name="Text 20"/>
          <p:cNvSpPr/>
          <p:nvPr/>
        </p:nvSpPr>
        <p:spPr>
          <a:xfrm>
            <a:off x="5130998" y="3606403"/>
            <a:ext cx="3397672" cy="595387"/>
          </a:xfrm>
          <a:prstGeom prst="rect">
            <a:avLst/>
          </a:prstGeom>
          <a:noFill/>
          <a:ln/>
        </p:spPr>
        <p:txBody>
          <a:bodyPr wrap="square" lIns="0" tIns="0" rIns="0" bIns="0" rtlCol="0" anchor="t"/>
          <a:lstStyle/>
          <a:p>
            <a:pPr marL="0" indent="0" algn="l">
              <a:lnSpc>
                <a:spcPts val="1550"/>
              </a:lnSpc>
              <a:buNone/>
            </a:pPr>
            <a:r>
              <a:rPr lang="en-US" sz="950" dirty="0">
                <a:solidFill>
                  <a:srgbClr val="000000"/>
                </a:solidFill>
                <a:latin typeface="Times New Roman" panose="02020603050405020304" pitchFamily="18" charset="0"/>
                <a:ea typeface="Open Sans" pitchFamily="34" charset="-122"/>
                <a:cs typeface="Times New Roman" panose="02020603050405020304" pitchFamily="18" charset="0"/>
              </a:rPr>
              <a:t>Валюталық база: 1$ = 450 ₸ (базалық есеп бойынша). Бұл көрсеткіш барлық есептеулерде негізгі валюта конверсиясы ретінде қолданылады.</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349" y="344835"/>
            <a:ext cx="4247927" cy="357336"/>
          </a:xfrm>
          <a:prstGeom prst="rect">
            <a:avLst/>
          </a:prstGeom>
          <a:noFill/>
          <a:ln/>
        </p:spPr>
        <p:txBody>
          <a:bodyPr wrap="none" lIns="0" tIns="0" rIns="0" bIns="0" rtlCol="0" anchor="t"/>
          <a:lstStyle/>
          <a:p>
            <a:pPr marL="0" indent="0" algn="l">
              <a:lnSpc>
                <a:spcPts val="2800"/>
              </a:lnSpc>
              <a:buNone/>
            </a:pPr>
            <a:r>
              <a:rPr lang="en-US" sz="2250" b="1" dirty="0">
                <a:solidFill>
                  <a:srgbClr val="101014"/>
                </a:solidFill>
                <a:latin typeface="Times New Roman" panose="02020603050405020304" pitchFamily="18" charset="0"/>
                <a:ea typeface="Playfair Display Bold" pitchFamily="34" charset="-122"/>
                <a:cs typeface="Times New Roman" panose="02020603050405020304" pitchFamily="18" charset="0"/>
              </a:rPr>
              <a:t>Машиналық оқыту алгоритмі</a:t>
            </a:r>
            <a:endParaRPr lang="en-US" sz="2250" dirty="0"/>
          </a:p>
        </p:txBody>
      </p:sp>
      <p:sp>
        <p:nvSpPr>
          <p:cNvPr id="3" name="Shape 1"/>
          <p:cNvSpPr/>
          <p:nvPr/>
        </p:nvSpPr>
        <p:spPr>
          <a:xfrm>
            <a:off x="457349" y="978843"/>
            <a:ext cx="1421606" cy="209178"/>
          </a:xfrm>
          <a:prstGeom prst="roundRect">
            <a:avLst>
              <a:gd name="adj" fmla="val 6560"/>
            </a:avLst>
          </a:prstGeom>
          <a:solidFill>
            <a:srgbClr val="E3E3E8"/>
          </a:solidFill>
          <a:ln/>
        </p:spPr>
      </p:sp>
      <p:sp>
        <p:nvSpPr>
          <p:cNvPr id="4" name="Text 2"/>
          <p:cNvSpPr/>
          <p:nvPr/>
        </p:nvSpPr>
        <p:spPr>
          <a:xfrm>
            <a:off x="525959" y="1013147"/>
            <a:ext cx="1284387" cy="140568"/>
          </a:xfrm>
          <a:prstGeom prst="rect">
            <a:avLst/>
          </a:prstGeom>
          <a:noFill/>
          <a:ln/>
        </p:spPr>
        <p:txBody>
          <a:bodyPr wrap="none" lIns="0" tIns="0" rIns="0" bIns="0" rtlCol="0" anchor="t"/>
          <a:lstStyle/>
          <a:p>
            <a:pPr marL="0" indent="0" algn="l">
              <a:lnSpc>
                <a:spcPts val="1100"/>
              </a:lnSpc>
              <a:buNone/>
            </a:pPr>
            <a:r>
              <a:rPr lang="en-US" sz="700" dirty="0">
                <a:solidFill>
                  <a:srgbClr val="39393C"/>
                </a:solidFill>
                <a:latin typeface="Times New Roman" panose="02020603050405020304" pitchFamily="18" charset="0"/>
                <a:ea typeface="Open Sans" pitchFamily="34" charset="-122"/>
                <a:cs typeface="Times New Roman" panose="02020603050405020304" pitchFamily="18" charset="0"/>
              </a:rPr>
              <a:t>RANDOM FOREST REGRESSOR</a:t>
            </a:r>
            <a:endParaRPr lang="en-US" sz="700" dirty="0"/>
          </a:p>
        </p:txBody>
      </p:sp>
      <p:sp>
        <p:nvSpPr>
          <p:cNvPr id="5" name="Text 3"/>
          <p:cNvSpPr/>
          <p:nvPr/>
        </p:nvSpPr>
        <p:spPr>
          <a:xfrm>
            <a:off x="457349" y="1230139"/>
            <a:ext cx="1948830" cy="178668"/>
          </a:xfrm>
          <a:prstGeom prst="rect">
            <a:avLst/>
          </a:prstGeom>
          <a:noFill/>
          <a:ln/>
        </p:spPr>
        <p:txBody>
          <a:bodyPr wrap="none" lIns="0" tIns="0" rIns="0" bIns="0" rtlCol="0" anchor="t"/>
          <a:lstStyle/>
          <a:p>
            <a:pPr marL="0" indent="0" algn="l">
              <a:lnSpc>
                <a:spcPts val="1400"/>
              </a:lnSpc>
              <a:buNone/>
            </a:pPr>
            <a:r>
              <a:rPr lang="en-US" sz="1100" b="1" dirty="0">
                <a:solidFill>
                  <a:srgbClr val="101014"/>
                </a:solidFill>
                <a:latin typeface="Times New Roman" panose="02020603050405020304" pitchFamily="18" charset="0"/>
                <a:ea typeface="Playfair Display Bold" pitchFamily="34" charset="-122"/>
                <a:cs typeface="Times New Roman" panose="02020603050405020304" pitchFamily="18" charset="0"/>
              </a:rPr>
              <a:t>Кездейсоқ орман алгоритмі</a:t>
            </a:r>
            <a:endParaRPr lang="en-US" sz="1100" dirty="0"/>
          </a:p>
        </p:txBody>
      </p:sp>
      <p:sp>
        <p:nvSpPr>
          <p:cNvPr id="6" name="Text 4"/>
          <p:cNvSpPr/>
          <p:nvPr/>
        </p:nvSpPr>
        <p:spPr>
          <a:xfrm>
            <a:off x="457349" y="1514177"/>
            <a:ext cx="4400550" cy="879202"/>
          </a:xfrm>
          <a:prstGeom prst="rect">
            <a:avLst/>
          </a:prstGeom>
          <a:noFill/>
          <a:ln/>
        </p:spPr>
        <p:txBody>
          <a:bodyPr wrap="square" lIns="0" tIns="0" rIns="0" bIns="0" rtlCol="0" anchor="t"/>
          <a:lstStyle/>
          <a:p>
            <a:pPr marL="0" indent="0" algn="l">
              <a:lnSpc>
                <a:spcPts val="13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Random Forest Regressor — жүздеген шешім ағаштарын біріктіру арқылы сызықтық емес күрделі байланыстарды дәл анықтайтын қуатты алгоритм. Деректер 80% (үйрету) және 20% (тестілеу) пропорциясында бөлінді. Модель үй бағасына әсер ететін көптеген факторлар арасындағы күрделі тәуелділіктерді автоматты түрде анықтайды.</a:t>
            </a:r>
            <a:endParaRPr lang="en-US" sz="900" dirty="0"/>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0211" y="2517614"/>
            <a:ext cx="171524" cy="171524"/>
          </a:xfrm>
          <a:prstGeom prst="rect">
            <a:avLst/>
          </a:prstGeom>
        </p:spPr>
      </p:pic>
      <p:sp>
        <p:nvSpPr>
          <p:cNvPr id="8" name="Text 5"/>
          <p:cNvSpPr/>
          <p:nvPr/>
        </p:nvSpPr>
        <p:spPr>
          <a:xfrm>
            <a:off x="828898" y="2511921"/>
            <a:ext cx="4029001" cy="351681"/>
          </a:xfrm>
          <a:prstGeom prst="rect">
            <a:avLst/>
          </a:prstGeom>
          <a:noFill/>
          <a:ln/>
        </p:spPr>
        <p:txBody>
          <a:bodyPr wrap="square" lIns="0" tIns="0" rIns="0" bIns="0" rtlCol="0" anchor="t"/>
          <a:lstStyle/>
          <a:p>
            <a:pPr marL="0" indent="0" algn="l">
              <a:lnSpc>
                <a:spcPts val="13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Жүздеген шешім ағашы біріктіріледі — әр ағаш деректердің бір бөлігін талдайды</a:t>
            </a:r>
            <a:endParaRPr lang="en-US" sz="900"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0211" y="3080110"/>
            <a:ext cx="171524" cy="171524"/>
          </a:xfrm>
          <a:prstGeom prst="rect">
            <a:avLst/>
          </a:prstGeom>
        </p:spPr>
      </p:pic>
      <p:sp>
        <p:nvSpPr>
          <p:cNvPr id="10" name="Text 6"/>
          <p:cNvSpPr/>
          <p:nvPr/>
        </p:nvSpPr>
        <p:spPr>
          <a:xfrm>
            <a:off x="828898" y="3074417"/>
            <a:ext cx="4029001" cy="351681"/>
          </a:xfrm>
          <a:prstGeom prst="rect">
            <a:avLst/>
          </a:prstGeom>
          <a:noFill/>
          <a:ln/>
        </p:spPr>
        <p:txBody>
          <a:bodyPr wrap="square" lIns="0" tIns="0" rIns="0" bIns="0" rtlCol="0" anchor="t"/>
          <a:lstStyle/>
          <a:p>
            <a:pPr marL="0" indent="0" algn="l">
              <a:lnSpc>
                <a:spcPts val="13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Сызықтық емес күрделі байланыстарды дәл табады — нарықтық заңдылықтарды анықтайды</a:t>
            </a:r>
            <a:endParaRPr lang="en-US" sz="90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0211" y="3642606"/>
            <a:ext cx="171524" cy="171524"/>
          </a:xfrm>
          <a:prstGeom prst="rect">
            <a:avLst/>
          </a:prstGeom>
        </p:spPr>
      </p:pic>
      <p:sp>
        <p:nvSpPr>
          <p:cNvPr id="12" name="Text 7"/>
          <p:cNvSpPr/>
          <p:nvPr/>
        </p:nvSpPr>
        <p:spPr>
          <a:xfrm>
            <a:off x="828898" y="3636913"/>
            <a:ext cx="4029001" cy="175840"/>
          </a:xfrm>
          <a:prstGeom prst="rect">
            <a:avLst/>
          </a:prstGeom>
          <a:noFill/>
          <a:ln/>
        </p:spPr>
        <p:txBody>
          <a:bodyPr wrap="none" lIns="0" tIns="0" rIns="0" bIns="0" rtlCol="0" anchor="t"/>
          <a:lstStyle/>
          <a:p>
            <a:pPr marL="0" indent="0" algn="l">
              <a:lnSpc>
                <a:spcPts val="13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Overfitting қаупі минималды — жалпылану қабілеті жоғары</a:t>
            </a:r>
            <a:endParaRPr lang="en-US" sz="900" dirty="0"/>
          </a:p>
        </p:txBody>
      </p:sp>
      <p:sp>
        <p:nvSpPr>
          <p:cNvPr id="13" name="Shape 8"/>
          <p:cNvSpPr/>
          <p:nvPr/>
        </p:nvSpPr>
        <p:spPr>
          <a:xfrm>
            <a:off x="5059263" y="860301"/>
            <a:ext cx="3714378" cy="3938290"/>
          </a:xfrm>
          <a:prstGeom prst="roundRect">
            <a:avLst>
              <a:gd name="adj" fmla="val 462"/>
            </a:avLst>
          </a:prstGeom>
          <a:solidFill>
            <a:srgbClr val="101014"/>
          </a:solidFill>
          <a:ln/>
        </p:spPr>
      </p:sp>
      <p:sp>
        <p:nvSpPr>
          <p:cNvPr id="14" name="Text 9"/>
          <p:cNvSpPr/>
          <p:nvPr/>
        </p:nvSpPr>
        <p:spPr>
          <a:xfrm>
            <a:off x="5173563" y="965671"/>
            <a:ext cx="1429420" cy="178668"/>
          </a:xfrm>
          <a:prstGeom prst="rect">
            <a:avLst/>
          </a:prstGeom>
          <a:noFill/>
          <a:ln/>
        </p:spPr>
        <p:txBody>
          <a:bodyPr wrap="none" lIns="0" tIns="0" rIns="0" bIns="0" rtlCol="0" anchor="t"/>
          <a:lstStyle/>
          <a:p>
            <a:pPr marL="0" indent="0" algn="l">
              <a:lnSpc>
                <a:spcPts val="1400"/>
              </a:lnSpc>
              <a:buNone/>
            </a:pPr>
            <a:r>
              <a:rPr lang="en-US" sz="1100" b="1" dirty="0">
                <a:solidFill>
                  <a:srgbClr val="FFFFFF"/>
                </a:solidFill>
                <a:latin typeface="Times New Roman" panose="02020603050405020304" pitchFamily="18" charset="0"/>
                <a:ea typeface="Playfair Display Bold" pitchFamily="34" charset="-122"/>
                <a:cs typeface="Times New Roman" panose="02020603050405020304" pitchFamily="18" charset="0"/>
              </a:rPr>
              <a:t>Модель сапасы</a:t>
            </a:r>
            <a:endParaRPr lang="en-US" sz="1100" dirty="0"/>
          </a:p>
        </p:txBody>
      </p:sp>
      <p:sp>
        <p:nvSpPr>
          <p:cNvPr id="15" name="Text 10"/>
          <p:cNvSpPr/>
          <p:nvPr/>
        </p:nvSpPr>
        <p:spPr>
          <a:xfrm>
            <a:off x="5173563" y="1249710"/>
            <a:ext cx="3485778" cy="527521"/>
          </a:xfrm>
          <a:prstGeom prst="rect">
            <a:avLst/>
          </a:prstGeom>
          <a:noFill/>
          <a:ln/>
        </p:spPr>
        <p:txBody>
          <a:bodyPr wrap="square" lIns="0" tIns="0" rIns="0" bIns="0" rtlCol="0" anchor="t"/>
          <a:lstStyle/>
          <a:p>
            <a:pPr marL="0" indent="0" algn="l">
              <a:lnSpc>
                <a:spcPts val="1350"/>
              </a:lnSpc>
              <a:buNone/>
            </a:pPr>
            <a:r>
              <a:rPr lang="en-US" sz="900" dirty="0">
                <a:solidFill>
                  <a:srgbClr val="FFFFFF"/>
                </a:solidFill>
                <a:latin typeface="Times New Roman" panose="02020603050405020304" pitchFamily="18" charset="0"/>
                <a:ea typeface="Open Sans" pitchFamily="34" charset="-122"/>
                <a:cs typeface="Times New Roman" panose="02020603050405020304" pitchFamily="18" charset="0"/>
              </a:rPr>
              <a:t>Коэффициент детерминациясы R² — модельдің деректердегі өзгергіштікті қаншалықты жақсы түсіндіретінін көрсететін негізгі метрика.</a:t>
            </a:r>
            <a:endParaRPr lang="en-US" sz="900" dirty="0"/>
          </a:p>
        </p:txBody>
      </p:sp>
      <p:sp>
        <p:nvSpPr>
          <p:cNvPr id="16" name="Text 11"/>
          <p:cNvSpPr/>
          <p:nvPr/>
        </p:nvSpPr>
        <p:spPr>
          <a:xfrm>
            <a:off x="6213128" y="2639020"/>
            <a:ext cx="1406500" cy="285824"/>
          </a:xfrm>
          <a:prstGeom prst="rect">
            <a:avLst/>
          </a:prstGeom>
          <a:noFill/>
          <a:ln/>
        </p:spPr>
        <p:txBody>
          <a:bodyPr wrap="none" lIns="0" tIns="0" rIns="0" bIns="0" rtlCol="0" anchor="t"/>
          <a:lstStyle/>
          <a:p>
            <a:pPr marL="0" indent="0" algn="ctr">
              <a:lnSpc>
                <a:spcPts val="2250"/>
              </a:lnSpc>
              <a:buNone/>
            </a:pPr>
            <a:r>
              <a:rPr lang="en-US" sz="2250" b="1" dirty="0">
                <a:solidFill>
                  <a:srgbClr val="FFFFFF"/>
                </a:solidFill>
                <a:latin typeface="Times New Roman" panose="02020603050405020304" pitchFamily="18" charset="0"/>
                <a:ea typeface="Playfair Display Bold" pitchFamily="34" charset="-122"/>
                <a:cs typeface="Times New Roman" panose="02020603050405020304" pitchFamily="18" charset="0"/>
              </a:rPr>
              <a:t>81.2%</a:t>
            </a:r>
            <a:endParaRPr lang="en-US" sz="2250" dirty="0"/>
          </a:p>
        </p:txBody>
      </p:sp>
      <p:pic>
        <p:nvPicPr>
          <p:cNvPr id="17" name="Image 3" descr="preencoded.png"/>
          <p:cNvPicPr>
            <a:picLocks noChangeAspect="1"/>
          </p:cNvPicPr>
          <p:nvPr/>
        </p:nvPicPr>
        <p:blipFill>
          <a:blip r:embed="rId5"/>
          <a:stretch>
            <a:fillRect/>
          </a:stretch>
        </p:blipFill>
        <p:spPr>
          <a:xfrm>
            <a:off x="6058793" y="1924348"/>
            <a:ext cx="1715319" cy="1715319"/>
          </a:xfrm>
          <a:prstGeom prst="rect">
            <a:avLst/>
          </a:prstGeom>
        </p:spPr>
      </p:pic>
      <p:sp>
        <p:nvSpPr>
          <p:cNvPr id="18" name="Text 12"/>
          <p:cNvSpPr/>
          <p:nvPr/>
        </p:nvSpPr>
        <p:spPr>
          <a:xfrm>
            <a:off x="6201742" y="3773612"/>
            <a:ext cx="1429420" cy="178668"/>
          </a:xfrm>
          <a:prstGeom prst="rect">
            <a:avLst/>
          </a:prstGeom>
          <a:noFill/>
          <a:ln/>
        </p:spPr>
        <p:txBody>
          <a:bodyPr wrap="none" lIns="0" tIns="0" rIns="0" bIns="0" rtlCol="0" anchor="t"/>
          <a:lstStyle/>
          <a:p>
            <a:pPr marL="0" indent="0" algn="ctr">
              <a:lnSpc>
                <a:spcPts val="1400"/>
              </a:lnSpc>
              <a:buNone/>
            </a:pPr>
            <a:r>
              <a:rPr lang="en-US" sz="1100" b="1" dirty="0">
                <a:solidFill>
                  <a:srgbClr val="FFFFFF"/>
                </a:solidFill>
                <a:latin typeface="Times New Roman" panose="02020603050405020304" pitchFamily="18" charset="0"/>
                <a:ea typeface="Playfair Display Bold" pitchFamily="34" charset="-122"/>
                <a:cs typeface="Times New Roman" panose="02020603050405020304" pitchFamily="18" charset="0"/>
              </a:rPr>
              <a:t>R² коэффициенті</a:t>
            </a:r>
            <a:endParaRPr lang="en-US" sz="1100" dirty="0"/>
          </a:p>
        </p:txBody>
      </p:sp>
      <p:sp>
        <p:nvSpPr>
          <p:cNvPr id="19" name="Text 13"/>
          <p:cNvSpPr/>
          <p:nvPr/>
        </p:nvSpPr>
        <p:spPr>
          <a:xfrm>
            <a:off x="5173563" y="4057650"/>
            <a:ext cx="3485778" cy="175840"/>
          </a:xfrm>
          <a:prstGeom prst="rect">
            <a:avLst/>
          </a:prstGeom>
          <a:noFill/>
          <a:ln/>
        </p:spPr>
        <p:txBody>
          <a:bodyPr wrap="none" lIns="0" tIns="0" rIns="0" bIns="0" rtlCol="0" anchor="t"/>
          <a:lstStyle/>
          <a:p>
            <a:pPr marL="0" indent="0" algn="ctr">
              <a:lnSpc>
                <a:spcPts val="1350"/>
              </a:lnSpc>
              <a:buNone/>
            </a:pPr>
            <a:r>
              <a:rPr lang="en-US" sz="900" dirty="0">
                <a:solidFill>
                  <a:srgbClr val="FFFFFF"/>
                </a:solidFill>
                <a:latin typeface="Times New Roman" panose="02020603050405020304" pitchFamily="18" charset="0"/>
                <a:ea typeface="Open Sans" pitchFamily="34" charset="-122"/>
                <a:cs typeface="Times New Roman" panose="02020603050405020304" pitchFamily="18" charset="0"/>
              </a:rPr>
              <a:t>Болжамдардың жоғары сенімділігін көрсетеді</a:t>
            </a:r>
            <a:endParaRPr lang="en-US" sz="900" dirty="0"/>
          </a:p>
        </p:txBody>
      </p:sp>
      <p:sp>
        <p:nvSpPr>
          <p:cNvPr id="20" name="Text 14"/>
          <p:cNvSpPr/>
          <p:nvPr/>
        </p:nvSpPr>
        <p:spPr>
          <a:xfrm>
            <a:off x="5173563" y="4352032"/>
            <a:ext cx="3485778" cy="351681"/>
          </a:xfrm>
          <a:prstGeom prst="rect">
            <a:avLst/>
          </a:prstGeom>
          <a:noFill/>
          <a:ln/>
        </p:spPr>
        <p:txBody>
          <a:bodyPr wrap="square" lIns="0" tIns="0" rIns="0" bIns="0" rtlCol="0" anchor="t"/>
          <a:lstStyle/>
          <a:p>
            <a:pPr marL="0" indent="0" algn="l">
              <a:lnSpc>
                <a:spcPts val="1350"/>
              </a:lnSpc>
              <a:buNone/>
            </a:pPr>
            <a:r>
              <a:rPr lang="en-US" sz="900" dirty="0">
                <a:solidFill>
                  <a:srgbClr val="FFFFFF"/>
                </a:solidFill>
                <a:latin typeface="Times New Roman" panose="02020603050405020304" pitchFamily="18" charset="0"/>
                <a:ea typeface="Open Sans" pitchFamily="34" charset="-122"/>
                <a:cs typeface="Times New Roman" panose="02020603050405020304" pitchFamily="18" charset="0"/>
              </a:rPr>
              <a:t>80/20 бөлу стратегиясы — деректердің 80% үйрету, 20% тестілеу үшін пайдаланылды.</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847654" y="374675"/>
            <a:ext cx="4877693" cy="654100"/>
          </a:xfrm>
          <a:prstGeom prst="rect">
            <a:avLst/>
          </a:prstGeom>
          <a:noFill/>
          <a:ln/>
        </p:spPr>
        <p:txBody>
          <a:bodyPr wrap="square" lIns="0" tIns="0" rIns="0" bIns="0" rtlCol="0" anchor="t"/>
          <a:lstStyle/>
          <a:p>
            <a:pPr marL="0" indent="0" algn="l">
              <a:lnSpc>
                <a:spcPts val="2550"/>
              </a:lnSpc>
              <a:buNone/>
            </a:pPr>
            <a:r>
              <a:rPr lang="en-US" sz="2050" b="1" dirty="0">
                <a:solidFill>
                  <a:srgbClr val="101014"/>
                </a:solidFill>
                <a:latin typeface="Times New Roman" panose="02020603050405020304" pitchFamily="18" charset="0"/>
                <a:ea typeface="Playfair Display Bold" pitchFamily="34" charset="-122"/>
                <a:cs typeface="Times New Roman" panose="02020603050405020304" pitchFamily="18" charset="0"/>
              </a:rPr>
              <a:t>Feature Engineering: Физикалық факторлар</a:t>
            </a:r>
            <a:endParaRPr lang="en-US" sz="2050" dirty="0"/>
          </a:p>
        </p:txBody>
      </p:sp>
      <p:sp>
        <p:nvSpPr>
          <p:cNvPr id="4" name="Text 1"/>
          <p:cNvSpPr/>
          <p:nvPr/>
        </p:nvSpPr>
        <p:spPr>
          <a:xfrm>
            <a:off x="3847654" y="1161231"/>
            <a:ext cx="4877693" cy="308818"/>
          </a:xfrm>
          <a:prstGeom prst="rect">
            <a:avLst/>
          </a:prstGeom>
          <a:noFill/>
          <a:ln/>
        </p:spPr>
        <p:txBody>
          <a:bodyPr wrap="square" lIns="0" tIns="0" rIns="0" bIns="0" rtlCol="0" anchor="t"/>
          <a:lstStyle/>
          <a:p>
            <a:pPr marL="0" indent="0" algn="l">
              <a:lnSpc>
                <a:spcPts val="1200"/>
              </a:lnSpc>
              <a:buNone/>
            </a:pPr>
            <a:r>
              <a:rPr lang="en-US" sz="800" dirty="0">
                <a:solidFill>
                  <a:srgbClr val="39393C"/>
                </a:solidFill>
                <a:latin typeface="Times New Roman" panose="02020603050405020304" pitchFamily="18" charset="0"/>
                <a:ea typeface="Open Sans" pitchFamily="34" charset="-122"/>
                <a:cs typeface="Times New Roman" panose="02020603050405020304" pitchFamily="18" charset="0"/>
              </a:rPr>
              <a:t>Модель бағаға әсер ететін 10-нан астам белгіні талдайды. Әрбір фактор нақты нарықтық логикаға негізделген:</a:t>
            </a:r>
            <a:endParaRPr lang="en-US" sz="8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47654" y="1569393"/>
            <a:ext cx="261640" cy="261640"/>
          </a:xfrm>
          <a:prstGeom prst="rect">
            <a:avLst/>
          </a:prstGeom>
        </p:spPr>
      </p:pic>
      <p:sp>
        <p:nvSpPr>
          <p:cNvPr id="6" name="Text 2"/>
          <p:cNvSpPr/>
          <p:nvPr/>
        </p:nvSpPr>
        <p:spPr>
          <a:xfrm>
            <a:off x="3847654" y="1941388"/>
            <a:ext cx="1308274" cy="163488"/>
          </a:xfrm>
          <a:prstGeom prst="rect">
            <a:avLst/>
          </a:prstGeom>
          <a:noFill/>
          <a:ln/>
        </p:spPr>
        <p:txBody>
          <a:bodyPr wrap="none" lIns="0" tIns="0" rIns="0" bIns="0" rtlCol="0" anchor="t"/>
          <a:lstStyle/>
          <a:p>
            <a:pPr marL="0" indent="0" algn="l">
              <a:lnSpc>
                <a:spcPts val="1250"/>
              </a:lnSpc>
              <a:buNone/>
            </a:pPr>
            <a:r>
              <a:rPr lang="en-US" sz="1000" b="1" dirty="0">
                <a:solidFill>
                  <a:srgbClr val="39393C"/>
                </a:solidFill>
                <a:latin typeface="Times New Roman" panose="02020603050405020304" pitchFamily="18" charset="0"/>
                <a:ea typeface="Playfair Display Bold" pitchFamily="34" charset="-122"/>
                <a:cs typeface="Times New Roman" panose="02020603050405020304" pitchFamily="18" charset="0"/>
              </a:rPr>
              <a:t>Үй материалы</a:t>
            </a:r>
            <a:endParaRPr lang="en-US" sz="1000" dirty="0"/>
          </a:p>
        </p:txBody>
      </p:sp>
      <p:sp>
        <p:nvSpPr>
          <p:cNvPr id="7" name="Text 3"/>
          <p:cNvSpPr/>
          <p:nvPr/>
        </p:nvSpPr>
        <p:spPr>
          <a:xfrm>
            <a:off x="3847654" y="2157859"/>
            <a:ext cx="4877693" cy="463228"/>
          </a:xfrm>
          <a:prstGeom prst="rect">
            <a:avLst/>
          </a:prstGeom>
          <a:noFill/>
          <a:ln/>
        </p:spPr>
        <p:txBody>
          <a:bodyPr wrap="square" lIns="0" tIns="0" rIns="0" bIns="0" rtlCol="0" anchor="t"/>
          <a:lstStyle/>
          <a:p>
            <a:pPr marL="0" indent="0" algn="l">
              <a:lnSpc>
                <a:spcPts val="1200"/>
              </a:lnSpc>
              <a:buNone/>
            </a:pPr>
            <a:r>
              <a:rPr lang="en-US" sz="800" dirty="0">
                <a:solidFill>
                  <a:srgbClr val="39393C"/>
                </a:solidFill>
                <a:latin typeface="Times New Roman" panose="02020603050405020304" pitchFamily="18" charset="0"/>
                <a:ea typeface="Open Sans" pitchFamily="34" charset="-122"/>
                <a:cs typeface="Times New Roman" panose="02020603050405020304" pitchFamily="18" charset="0"/>
              </a:rPr>
              <a:t>Кирпич үйлерге </a:t>
            </a:r>
            <a:r>
              <a:rPr lang="en-US" sz="800" b="1" dirty="0">
                <a:solidFill>
                  <a:srgbClr val="39393C"/>
                </a:solidFill>
                <a:latin typeface="Times New Roman" panose="02020603050405020304" pitchFamily="18" charset="0"/>
                <a:ea typeface="Open Sans" pitchFamily="34" charset="-122"/>
                <a:cs typeface="Times New Roman" panose="02020603050405020304" pitchFamily="18" charset="0"/>
              </a:rPr>
              <a:t>+15% бонус</a:t>
            </a:r>
            <a:r>
              <a:rPr lang="en-US" sz="800" dirty="0">
                <a:solidFill>
                  <a:srgbClr val="39393C"/>
                </a:solidFill>
                <a:latin typeface="Times New Roman" panose="02020603050405020304" pitchFamily="18" charset="0"/>
                <a:ea typeface="Open Sans" pitchFamily="34" charset="-122"/>
                <a:cs typeface="Times New Roman" panose="02020603050405020304" pitchFamily="18" charset="0"/>
              </a:rPr>
              <a:t> қосылады. Панель және бетон нысандарының баға айырмашылығы нақты коэффициенттермен ескеріледі. Материалдың сапасы мен төзімділігі ұзақ мерзімді құнға тікелей әсер етеді.</a:t>
            </a:r>
            <a:endParaRPr lang="en-US" sz="80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47654" y="2797671"/>
            <a:ext cx="261640" cy="261640"/>
          </a:xfrm>
          <a:prstGeom prst="rect">
            <a:avLst/>
          </a:prstGeom>
        </p:spPr>
      </p:pic>
      <p:sp>
        <p:nvSpPr>
          <p:cNvPr id="9" name="Text 4"/>
          <p:cNvSpPr/>
          <p:nvPr/>
        </p:nvSpPr>
        <p:spPr>
          <a:xfrm>
            <a:off x="3847654" y="3169667"/>
            <a:ext cx="1308274" cy="163488"/>
          </a:xfrm>
          <a:prstGeom prst="rect">
            <a:avLst/>
          </a:prstGeom>
          <a:noFill/>
          <a:ln/>
        </p:spPr>
        <p:txBody>
          <a:bodyPr wrap="none" lIns="0" tIns="0" rIns="0" bIns="0" rtlCol="0" anchor="t"/>
          <a:lstStyle/>
          <a:p>
            <a:pPr marL="0" indent="0" algn="l">
              <a:lnSpc>
                <a:spcPts val="1250"/>
              </a:lnSpc>
              <a:buNone/>
            </a:pPr>
            <a:r>
              <a:rPr lang="en-US" sz="1000" b="1" dirty="0">
                <a:solidFill>
                  <a:srgbClr val="39393C"/>
                </a:solidFill>
                <a:latin typeface="Times New Roman" panose="02020603050405020304" pitchFamily="18" charset="0"/>
                <a:ea typeface="Playfair Display Bold" pitchFamily="34" charset="-122"/>
                <a:cs typeface="Times New Roman" panose="02020603050405020304" pitchFamily="18" charset="0"/>
              </a:rPr>
              <a:t>Пәтер логикасы</a:t>
            </a:r>
            <a:endParaRPr lang="en-US" sz="1000" dirty="0"/>
          </a:p>
        </p:txBody>
      </p:sp>
      <p:sp>
        <p:nvSpPr>
          <p:cNvPr id="10" name="Text 5"/>
          <p:cNvSpPr/>
          <p:nvPr/>
        </p:nvSpPr>
        <p:spPr>
          <a:xfrm>
            <a:off x="3847654" y="3386138"/>
            <a:ext cx="4877693" cy="308818"/>
          </a:xfrm>
          <a:prstGeom prst="rect">
            <a:avLst/>
          </a:prstGeom>
          <a:noFill/>
          <a:ln/>
        </p:spPr>
        <p:txBody>
          <a:bodyPr wrap="square" lIns="0" tIns="0" rIns="0" bIns="0" rtlCol="0" anchor="t"/>
          <a:lstStyle/>
          <a:p>
            <a:pPr marL="0" indent="0" algn="l">
              <a:lnSpc>
                <a:spcPts val="1200"/>
              </a:lnSpc>
              <a:buNone/>
            </a:pPr>
            <a:r>
              <a:rPr lang="en-US" sz="800" dirty="0">
                <a:solidFill>
                  <a:srgbClr val="39393C"/>
                </a:solidFill>
                <a:latin typeface="Times New Roman" panose="02020603050405020304" pitchFamily="18" charset="0"/>
                <a:ea typeface="Open Sans" pitchFamily="34" charset="-122"/>
                <a:cs typeface="Times New Roman" panose="02020603050405020304" pitchFamily="18" charset="0"/>
              </a:rPr>
              <a:t>«Алтын қабаттар» — 2, 3, 4-ші қабаттар үшін қосымша салмақтар қойылады. Бұл қабаттар тұрғындар үшін ең ыңғайлы деп саналады: тым төмен де, тым жоғары да емес.</a:t>
            </a:r>
            <a:endParaRPr lang="en-US" sz="800" dirty="0"/>
          </a:p>
        </p:txBody>
      </p:sp>
      <p:pic>
        <p:nvPicPr>
          <p:cNvPr id="11"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47654" y="3871540"/>
            <a:ext cx="261640" cy="261640"/>
          </a:xfrm>
          <a:prstGeom prst="rect">
            <a:avLst/>
          </a:prstGeom>
        </p:spPr>
      </p:pic>
      <p:sp>
        <p:nvSpPr>
          <p:cNvPr id="12" name="Text 6"/>
          <p:cNvSpPr/>
          <p:nvPr/>
        </p:nvSpPr>
        <p:spPr>
          <a:xfrm>
            <a:off x="3847654" y="4243536"/>
            <a:ext cx="1308274" cy="163488"/>
          </a:xfrm>
          <a:prstGeom prst="rect">
            <a:avLst/>
          </a:prstGeom>
          <a:noFill/>
          <a:ln/>
        </p:spPr>
        <p:txBody>
          <a:bodyPr wrap="none" lIns="0" tIns="0" rIns="0" bIns="0" rtlCol="0" anchor="t"/>
          <a:lstStyle/>
          <a:p>
            <a:pPr marL="0" indent="0" algn="l">
              <a:lnSpc>
                <a:spcPts val="1250"/>
              </a:lnSpc>
              <a:buNone/>
            </a:pPr>
            <a:r>
              <a:rPr lang="en-US" sz="1000" b="1" dirty="0">
                <a:solidFill>
                  <a:srgbClr val="39393C"/>
                </a:solidFill>
                <a:latin typeface="Times New Roman" panose="02020603050405020304" pitchFamily="18" charset="0"/>
                <a:ea typeface="Playfair Display Bold" pitchFamily="34" charset="-122"/>
                <a:cs typeface="Times New Roman" panose="02020603050405020304" pitchFamily="18" charset="0"/>
              </a:rPr>
              <a:t>Жер үй логикасы</a:t>
            </a:r>
            <a:endParaRPr lang="en-US" sz="1000" dirty="0"/>
          </a:p>
        </p:txBody>
      </p:sp>
      <p:sp>
        <p:nvSpPr>
          <p:cNvPr id="13" name="Text 7"/>
          <p:cNvSpPr/>
          <p:nvPr/>
        </p:nvSpPr>
        <p:spPr>
          <a:xfrm>
            <a:off x="3847654" y="4460007"/>
            <a:ext cx="4877693" cy="308818"/>
          </a:xfrm>
          <a:prstGeom prst="rect">
            <a:avLst/>
          </a:prstGeom>
          <a:noFill/>
          <a:ln/>
        </p:spPr>
        <p:txBody>
          <a:bodyPr wrap="square" lIns="0" tIns="0" rIns="0" bIns="0" rtlCol="0" anchor="t"/>
          <a:lstStyle/>
          <a:p>
            <a:pPr marL="0" indent="0" algn="l">
              <a:lnSpc>
                <a:spcPts val="1200"/>
              </a:lnSpc>
              <a:buNone/>
            </a:pPr>
            <a:r>
              <a:rPr lang="en-US" sz="800" dirty="0">
                <a:solidFill>
                  <a:srgbClr val="39393C"/>
                </a:solidFill>
                <a:latin typeface="Times New Roman" panose="02020603050405020304" pitchFamily="18" charset="0"/>
                <a:ea typeface="Open Sans" pitchFamily="34" charset="-122"/>
                <a:cs typeface="Times New Roman" panose="02020603050405020304" pitchFamily="18" charset="0"/>
              </a:rPr>
              <a:t>Құрылыс бағасына жер учаскесінің (сотка) құны қосылады: </a:t>
            </a:r>
            <a:r>
              <a:rPr lang="en-US" sz="800" b="1" dirty="0">
                <a:solidFill>
                  <a:srgbClr val="39393C"/>
                </a:solidFill>
                <a:latin typeface="Times New Roman" panose="02020603050405020304" pitchFamily="18" charset="0"/>
                <a:ea typeface="Open Sans" pitchFamily="34" charset="-122"/>
                <a:cs typeface="Times New Roman" panose="02020603050405020304" pitchFamily="18" charset="0"/>
              </a:rPr>
              <a:t>1 сот. = 1.5 млн ₸</a:t>
            </a:r>
            <a:r>
              <a:rPr lang="en-US" sz="800" dirty="0">
                <a:solidFill>
                  <a:srgbClr val="39393C"/>
                </a:solidFill>
                <a:latin typeface="Times New Roman" panose="02020603050405020304" pitchFamily="18" charset="0"/>
                <a:ea typeface="Open Sans" pitchFamily="34" charset="-122"/>
                <a:cs typeface="Times New Roman" panose="02020603050405020304" pitchFamily="18" charset="0"/>
              </a:rPr>
              <a:t>. Жер учаскесінің ауданы мен орналасқан жері жер үй бағасының маңызды факторы болып табылады.</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98859"/>
            <a:ext cx="8151763" cy="775097"/>
          </a:xfrm>
          <a:prstGeom prst="rect">
            <a:avLst/>
          </a:prstGeom>
          <a:noFill/>
          <a:ln/>
        </p:spPr>
        <p:txBody>
          <a:bodyPr wrap="square" lIns="0" tIns="0" rIns="0" bIns="0" rtlCol="0" anchor="t"/>
          <a:lstStyle/>
          <a:p>
            <a:pPr marL="0" indent="0" algn="l">
              <a:lnSpc>
                <a:spcPts val="3050"/>
              </a:lnSpc>
              <a:buNone/>
            </a:pPr>
            <a:r>
              <a:rPr lang="en-US" sz="2400" b="1" dirty="0">
                <a:solidFill>
                  <a:srgbClr val="101014"/>
                </a:solidFill>
                <a:latin typeface="Times New Roman" panose="02020603050405020304" pitchFamily="18" charset="0"/>
                <a:ea typeface="Playfair Display Bold" pitchFamily="34" charset="-122"/>
                <a:cs typeface="Times New Roman" panose="02020603050405020304" pitchFamily="18" charset="0"/>
              </a:rPr>
              <a:t>Feature Engineering: География және Инфрақұрылым</a:t>
            </a:r>
            <a:endParaRPr lang="en-US" sz="2400" dirty="0"/>
          </a:p>
        </p:txBody>
      </p:sp>
      <p:sp>
        <p:nvSpPr>
          <p:cNvPr id="3" name="Text 1"/>
          <p:cNvSpPr/>
          <p:nvPr/>
        </p:nvSpPr>
        <p:spPr>
          <a:xfrm>
            <a:off x="496119" y="1483965"/>
            <a:ext cx="2104355" cy="193849"/>
          </a:xfrm>
          <a:prstGeom prst="rect">
            <a:avLst/>
          </a:prstGeom>
          <a:noFill/>
          <a:ln/>
        </p:spPr>
        <p:txBody>
          <a:bodyPr wrap="none" lIns="0" tIns="0" rIns="0" bIns="0" rtlCol="0" anchor="t"/>
          <a:lstStyle/>
          <a:p>
            <a:pPr marL="0" indent="0" algn="l">
              <a:lnSpc>
                <a:spcPts val="1500"/>
              </a:lnSpc>
              <a:buNone/>
            </a:pPr>
            <a:r>
              <a:rPr lang="en-US" sz="1200" b="1" dirty="0">
                <a:solidFill>
                  <a:srgbClr val="101014"/>
                </a:solidFill>
                <a:latin typeface="Times New Roman" panose="02020603050405020304" pitchFamily="18" charset="0"/>
                <a:ea typeface="Playfair Display Bold" pitchFamily="34" charset="-122"/>
                <a:cs typeface="Times New Roman" panose="02020603050405020304" pitchFamily="18" charset="0"/>
              </a:rPr>
              <a:t>Локация коэффициенттері</a:t>
            </a:r>
            <a:endParaRPr lang="en-US" sz="1200" dirty="0"/>
          </a:p>
        </p:txBody>
      </p:sp>
      <p:sp>
        <p:nvSpPr>
          <p:cNvPr id="4" name="Text 2"/>
          <p:cNvSpPr/>
          <p:nvPr/>
        </p:nvSpPr>
        <p:spPr>
          <a:xfrm>
            <a:off x="496119" y="1801788"/>
            <a:ext cx="3924598" cy="793849"/>
          </a:xfrm>
          <a:prstGeom prst="rect">
            <a:avLst/>
          </a:prstGeom>
          <a:noFill/>
          <a:ln/>
        </p:spPr>
        <p:txBody>
          <a:bodyPr wrap="square" lIns="0" tIns="0" rIns="0" bIns="0" rtlCol="0" anchor="t"/>
          <a:lstStyle/>
          <a:p>
            <a:pPr marL="0" indent="0" algn="l">
              <a:lnSpc>
                <a:spcPts val="1550"/>
              </a:lnSpc>
              <a:buNone/>
            </a:pPr>
            <a:r>
              <a:rPr lang="en-US" sz="950" dirty="0">
                <a:solidFill>
                  <a:srgbClr val="39393C"/>
                </a:solidFill>
                <a:latin typeface="Times New Roman" panose="02020603050405020304" pitchFamily="18" charset="0"/>
                <a:ea typeface="Open Sans" pitchFamily="34" charset="-122"/>
                <a:cs typeface="Times New Roman" panose="02020603050405020304" pitchFamily="18" charset="0"/>
              </a:rPr>
              <a:t>Қызылорданың </a:t>
            </a:r>
            <a:r>
              <a:rPr lang="en-US" sz="950" b="1" dirty="0">
                <a:solidFill>
                  <a:srgbClr val="39393C"/>
                </a:solidFill>
                <a:latin typeface="Times New Roman" panose="02020603050405020304" pitchFamily="18" charset="0"/>
                <a:ea typeface="Open Sans" pitchFamily="34" charset="-122"/>
                <a:cs typeface="Times New Roman" panose="02020603050405020304" pitchFamily="18" charset="0"/>
              </a:rPr>
              <a:t>12 негізгі ауданы</a:t>
            </a:r>
            <a:r>
              <a:rPr lang="en-US" sz="950" dirty="0">
                <a:solidFill>
                  <a:srgbClr val="39393C"/>
                </a:solidFill>
                <a:latin typeface="Times New Roman" panose="02020603050405020304" pitchFamily="18" charset="0"/>
                <a:ea typeface="Open Sans" pitchFamily="34" charset="-122"/>
                <a:cs typeface="Times New Roman" panose="02020603050405020304" pitchFamily="18" charset="0"/>
              </a:rPr>
              <a:t> жеке коэффициенттермен ескеріледі: Орталық, Сырдария, Сол жағалау, Арай, Титов және басқалары. Әр ауданның нарықтағы беделі мен инфрақұрылым деңгейі бағаға тікелей әсер етеді.</a:t>
            </a:r>
            <a:endParaRPr lang="en-US" sz="950" dirty="0"/>
          </a:p>
        </p:txBody>
      </p:sp>
      <p:sp>
        <p:nvSpPr>
          <p:cNvPr id="5" name="Text 3"/>
          <p:cNvSpPr/>
          <p:nvPr/>
        </p:nvSpPr>
        <p:spPr>
          <a:xfrm>
            <a:off x="496119" y="2719611"/>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01014"/>
                </a:solidFill>
                <a:latin typeface="Times New Roman" panose="02020603050405020304" pitchFamily="18" charset="0"/>
                <a:ea typeface="Playfair Display Bold" pitchFamily="34" charset="-122"/>
                <a:cs typeface="Times New Roman" panose="02020603050405020304" pitchFamily="18" charset="0"/>
              </a:rPr>
              <a:t>Кадастрлық сүзгі</a:t>
            </a:r>
            <a:endParaRPr lang="en-US" sz="1200" dirty="0"/>
          </a:p>
        </p:txBody>
      </p:sp>
      <p:sp>
        <p:nvSpPr>
          <p:cNvPr id="6" name="Text 4"/>
          <p:cNvSpPr/>
          <p:nvPr/>
        </p:nvSpPr>
        <p:spPr>
          <a:xfrm>
            <a:off x="496119" y="3037433"/>
            <a:ext cx="3924598" cy="793849"/>
          </a:xfrm>
          <a:prstGeom prst="rect">
            <a:avLst/>
          </a:prstGeom>
          <a:noFill/>
          <a:ln/>
        </p:spPr>
        <p:txBody>
          <a:bodyPr wrap="square" lIns="0" tIns="0" rIns="0" bIns="0" rtlCol="0" anchor="t"/>
          <a:lstStyle/>
          <a:p>
            <a:pPr marL="0" indent="0" algn="l">
              <a:lnSpc>
                <a:spcPts val="1550"/>
              </a:lnSpc>
              <a:buNone/>
            </a:pPr>
            <a:r>
              <a:rPr lang="en-US" sz="950" dirty="0">
                <a:solidFill>
                  <a:srgbClr val="39393C"/>
                </a:solidFill>
                <a:latin typeface="Times New Roman" panose="02020603050405020304" pitchFamily="18" charset="0"/>
                <a:ea typeface="Open Sans" pitchFamily="34" charset="-122"/>
                <a:cs typeface="Times New Roman" panose="02020603050405020304" pitchFamily="18" charset="0"/>
              </a:rPr>
              <a:t>Аудандардағы мүлік түрінің болуын автоматты тексеру жүргізіледі. Мысалы, Орталық ауданда жер үйлердің жоқтығы ескеріледі — модель мұндай сәйкессіздіктерді автоматты анықтайды.</a:t>
            </a:r>
            <a:endParaRPr lang="en-US" sz="950" dirty="0"/>
          </a:p>
        </p:txBody>
      </p:sp>
      <p:sp>
        <p:nvSpPr>
          <p:cNvPr id="7" name="Shape 5"/>
          <p:cNvSpPr/>
          <p:nvPr/>
        </p:nvSpPr>
        <p:spPr>
          <a:xfrm>
            <a:off x="4638749" y="1359991"/>
            <a:ext cx="4103191" cy="3384649"/>
          </a:xfrm>
          <a:prstGeom prst="roundRect">
            <a:avLst>
              <a:gd name="adj" fmla="val 550"/>
            </a:avLst>
          </a:prstGeom>
          <a:solidFill>
            <a:srgbClr val="101014"/>
          </a:solidFill>
          <a:ln/>
        </p:spPr>
      </p:sp>
      <p:sp>
        <p:nvSpPr>
          <p:cNvPr id="8" name="Text 6"/>
          <p:cNvSpPr/>
          <p:nvPr/>
        </p:nvSpPr>
        <p:spPr>
          <a:xfrm>
            <a:off x="4762723" y="1483965"/>
            <a:ext cx="1857152" cy="193849"/>
          </a:xfrm>
          <a:prstGeom prst="rect">
            <a:avLst/>
          </a:prstGeom>
          <a:noFill/>
          <a:ln/>
        </p:spPr>
        <p:txBody>
          <a:bodyPr wrap="none" lIns="0" tIns="0" rIns="0" bIns="0" rtlCol="0" anchor="t"/>
          <a:lstStyle/>
          <a:p>
            <a:pPr marL="0" indent="0" algn="l">
              <a:lnSpc>
                <a:spcPts val="1500"/>
              </a:lnSpc>
              <a:buNone/>
            </a:pPr>
            <a:r>
              <a:rPr lang="en-US" sz="1200" b="1" dirty="0">
                <a:solidFill>
                  <a:srgbClr val="FFFFFF"/>
                </a:solidFill>
                <a:latin typeface="Times New Roman" panose="02020603050405020304" pitchFamily="18" charset="0"/>
                <a:ea typeface="Playfair Display Bold" pitchFamily="34" charset="-122"/>
                <a:cs typeface="Times New Roman" panose="02020603050405020304" pitchFamily="18" charset="0"/>
              </a:rPr>
              <a:t>Инфрақұрылым бонусы</a:t>
            </a:r>
            <a:endParaRPr lang="en-US" sz="1200" dirty="0"/>
          </a:p>
        </p:txBody>
      </p:sp>
      <p:sp>
        <p:nvSpPr>
          <p:cNvPr id="9" name="Text 7"/>
          <p:cNvSpPr/>
          <p:nvPr/>
        </p:nvSpPr>
        <p:spPr>
          <a:xfrm>
            <a:off x="4762723" y="1801788"/>
            <a:ext cx="3855244" cy="793849"/>
          </a:xfrm>
          <a:prstGeom prst="rect">
            <a:avLst/>
          </a:prstGeom>
          <a:noFill/>
          <a:ln/>
        </p:spPr>
        <p:txBody>
          <a:bodyPr wrap="square" lIns="0" tIns="0" rIns="0" bIns="0" rtlCol="0" anchor="t"/>
          <a:lstStyle/>
          <a:p>
            <a:pPr marL="0" indent="0" algn="l">
              <a:lnSpc>
                <a:spcPts val="1550"/>
              </a:lnSpc>
              <a:buNone/>
            </a:pPr>
            <a:r>
              <a:rPr lang="en-US" sz="950" dirty="0">
                <a:solidFill>
                  <a:srgbClr val="FFFFFF"/>
                </a:solidFill>
                <a:latin typeface="Times New Roman" panose="02020603050405020304" pitchFamily="18" charset="0"/>
                <a:ea typeface="Open Sans" pitchFamily="34" charset="-122"/>
                <a:cs typeface="Times New Roman" panose="02020603050405020304" pitchFamily="18" charset="0"/>
              </a:rPr>
              <a:t>Нысан маңындағы мектеп, саябақ және сауда орталықтарының жақындығына байланысты бағаға </a:t>
            </a:r>
            <a:r>
              <a:rPr lang="en-US" sz="950" b="1" dirty="0">
                <a:solidFill>
                  <a:srgbClr val="FFFFFF"/>
                </a:solidFill>
                <a:latin typeface="Times New Roman" panose="02020603050405020304" pitchFamily="18" charset="0"/>
                <a:ea typeface="Open Sans" pitchFamily="34" charset="-122"/>
                <a:cs typeface="Times New Roman" panose="02020603050405020304" pitchFamily="18" charset="0"/>
              </a:rPr>
              <a:t>+12%-ға дейін</a:t>
            </a:r>
            <a:r>
              <a:rPr lang="en-US" sz="950" dirty="0">
                <a:solidFill>
                  <a:srgbClr val="FFFFFF"/>
                </a:solidFill>
                <a:latin typeface="Times New Roman" panose="02020603050405020304" pitchFamily="18" charset="0"/>
                <a:ea typeface="Open Sans" pitchFamily="34" charset="-122"/>
                <a:cs typeface="Times New Roman" panose="02020603050405020304" pitchFamily="18" charset="0"/>
              </a:rPr>
              <a:t> бонус есептеледі. Инфрақұрылымға жақындық тұрғын үй құнын айтарлықтай арттырады.</a:t>
            </a:r>
            <a:endParaRPr lang="en-US" sz="950" dirty="0"/>
          </a:p>
        </p:txBody>
      </p:sp>
      <p:sp>
        <p:nvSpPr>
          <p:cNvPr id="10" name="Shape 8"/>
          <p:cNvSpPr/>
          <p:nvPr/>
        </p:nvSpPr>
        <p:spPr>
          <a:xfrm>
            <a:off x="4762723" y="2735163"/>
            <a:ext cx="1865635" cy="972220"/>
          </a:xfrm>
          <a:prstGeom prst="roundRect">
            <a:avLst>
              <a:gd name="adj" fmla="val 1914"/>
            </a:avLst>
          </a:prstGeom>
          <a:solidFill>
            <a:srgbClr val="E0E0EC"/>
          </a:solidFill>
          <a:ln/>
        </p:spPr>
      </p:sp>
      <p:sp>
        <p:nvSpPr>
          <p:cNvPr id="11" name="Text 9"/>
          <p:cNvSpPr/>
          <p:nvPr/>
        </p:nvSpPr>
        <p:spPr>
          <a:xfrm>
            <a:off x="4886697" y="2859137"/>
            <a:ext cx="1550566" cy="203374"/>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Times New Roman" panose="02020603050405020304" pitchFamily="18" charset="0"/>
                <a:ea typeface="Playfair Display Bold" pitchFamily="34" charset="-122"/>
                <a:cs typeface="Times New Roman" panose="02020603050405020304" pitchFamily="18" charset="0"/>
              </a:rPr>
              <a:t>🏫 Мектеп</a:t>
            </a:r>
            <a:endParaRPr lang="en-US" sz="1200" dirty="0"/>
          </a:p>
        </p:txBody>
      </p:sp>
      <p:sp>
        <p:nvSpPr>
          <p:cNvPr id="12" name="Text 10"/>
          <p:cNvSpPr/>
          <p:nvPr/>
        </p:nvSpPr>
        <p:spPr>
          <a:xfrm>
            <a:off x="4886697" y="3186485"/>
            <a:ext cx="1617687" cy="396925"/>
          </a:xfrm>
          <a:prstGeom prst="rect">
            <a:avLst/>
          </a:prstGeom>
          <a:noFill/>
          <a:ln/>
        </p:spPr>
        <p:txBody>
          <a:bodyPr wrap="square" lIns="0" tIns="0" rIns="0" bIns="0" rtlCol="0" anchor="t"/>
          <a:lstStyle/>
          <a:p>
            <a:pPr marL="0" indent="0" algn="l">
              <a:lnSpc>
                <a:spcPts val="1550"/>
              </a:lnSpc>
              <a:buNone/>
            </a:pPr>
            <a:r>
              <a:rPr lang="en-US" sz="950" dirty="0">
                <a:solidFill>
                  <a:srgbClr val="000000"/>
                </a:solidFill>
                <a:latin typeface="Times New Roman" panose="02020603050405020304" pitchFamily="18" charset="0"/>
                <a:ea typeface="Open Sans" pitchFamily="34" charset="-122"/>
                <a:cs typeface="Times New Roman" panose="02020603050405020304" pitchFamily="18" charset="0"/>
              </a:rPr>
              <a:t>Білім беру инфрақұрылымы</a:t>
            </a:r>
            <a:endParaRPr lang="en-US" sz="950" dirty="0"/>
          </a:p>
        </p:txBody>
      </p:sp>
      <p:sp>
        <p:nvSpPr>
          <p:cNvPr id="13" name="Shape 11"/>
          <p:cNvSpPr/>
          <p:nvPr/>
        </p:nvSpPr>
        <p:spPr>
          <a:xfrm>
            <a:off x="6752332" y="2735163"/>
            <a:ext cx="1865635" cy="972220"/>
          </a:xfrm>
          <a:prstGeom prst="roundRect">
            <a:avLst>
              <a:gd name="adj" fmla="val 1914"/>
            </a:avLst>
          </a:prstGeom>
          <a:solidFill>
            <a:srgbClr val="E0E0EC"/>
          </a:solidFill>
          <a:ln/>
        </p:spPr>
      </p:sp>
      <p:sp>
        <p:nvSpPr>
          <p:cNvPr id="14" name="Text 12"/>
          <p:cNvSpPr/>
          <p:nvPr/>
        </p:nvSpPr>
        <p:spPr>
          <a:xfrm>
            <a:off x="6876306" y="2859137"/>
            <a:ext cx="1550566" cy="203374"/>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Times New Roman" panose="02020603050405020304" pitchFamily="18" charset="0"/>
                <a:ea typeface="Playfair Display Bold" pitchFamily="34" charset="-122"/>
                <a:cs typeface="Times New Roman" panose="02020603050405020304" pitchFamily="18" charset="0"/>
              </a:rPr>
              <a:t>🌳 Саябақ</a:t>
            </a:r>
            <a:endParaRPr lang="en-US" sz="1200" dirty="0"/>
          </a:p>
        </p:txBody>
      </p:sp>
      <p:sp>
        <p:nvSpPr>
          <p:cNvPr id="15" name="Text 13"/>
          <p:cNvSpPr/>
          <p:nvPr/>
        </p:nvSpPr>
        <p:spPr>
          <a:xfrm>
            <a:off x="6876306" y="3186485"/>
            <a:ext cx="1617687" cy="198462"/>
          </a:xfrm>
          <a:prstGeom prst="rect">
            <a:avLst/>
          </a:prstGeom>
          <a:noFill/>
          <a:ln/>
        </p:spPr>
        <p:txBody>
          <a:bodyPr wrap="none" lIns="0" tIns="0" rIns="0" bIns="0" rtlCol="0" anchor="t"/>
          <a:lstStyle/>
          <a:p>
            <a:pPr marL="0" indent="0" algn="l">
              <a:lnSpc>
                <a:spcPts val="1550"/>
              </a:lnSpc>
              <a:buNone/>
            </a:pPr>
            <a:r>
              <a:rPr lang="en-US" sz="950" dirty="0">
                <a:solidFill>
                  <a:srgbClr val="000000"/>
                </a:solidFill>
                <a:latin typeface="Times New Roman" panose="02020603050405020304" pitchFamily="18" charset="0"/>
                <a:ea typeface="Open Sans" pitchFamily="34" charset="-122"/>
                <a:cs typeface="Times New Roman" panose="02020603050405020304" pitchFamily="18" charset="0"/>
              </a:rPr>
              <a:t>Жасыл аймақ жақындығы</a:t>
            </a:r>
            <a:endParaRPr lang="en-US" sz="950" dirty="0"/>
          </a:p>
        </p:txBody>
      </p:sp>
      <p:sp>
        <p:nvSpPr>
          <p:cNvPr id="16" name="Shape 14"/>
          <p:cNvSpPr/>
          <p:nvPr/>
        </p:nvSpPr>
        <p:spPr>
          <a:xfrm>
            <a:off x="4762723" y="3831357"/>
            <a:ext cx="3855244" cy="773757"/>
          </a:xfrm>
          <a:prstGeom prst="roundRect">
            <a:avLst>
              <a:gd name="adj" fmla="val 2405"/>
            </a:avLst>
          </a:prstGeom>
          <a:solidFill>
            <a:srgbClr val="E0E0EC"/>
          </a:solidFill>
          <a:ln/>
        </p:spPr>
      </p:sp>
      <p:sp>
        <p:nvSpPr>
          <p:cNvPr id="17" name="Text 15"/>
          <p:cNvSpPr/>
          <p:nvPr/>
        </p:nvSpPr>
        <p:spPr>
          <a:xfrm>
            <a:off x="4886697" y="3955331"/>
            <a:ext cx="1550566" cy="203374"/>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Times New Roman" panose="02020603050405020304" pitchFamily="18" charset="0"/>
                <a:ea typeface="Playfair Display Bold" pitchFamily="34" charset="-122"/>
                <a:cs typeface="Times New Roman" panose="02020603050405020304" pitchFamily="18" charset="0"/>
              </a:rPr>
              <a:t>🛒 Сауда</a:t>
            </a:r>
            <a:endParaRPr lang="en-US" sz="1200" dirty="0"/>
          </a:p>
        </p:txBody>
      </p:sp>
      <p:sp>
        <p:nvSpPr>
          <p:cNvPr id="18" name="Text 16"/>
          <p:cNvSpPr/>
          <p:nvPr/>
        </p:nvSpPr>
        <p:spPr>
          <a:xfrm>
            <a:off x="4886697" y="4282678"/>
            <a:ext cx="3607296" cy="198462"/>
          </a:xfrm>
          <a:prstGeom prst="rect">
            <a:avLst/>
          </a:prstGeom>
          <a:noFill/>
          <a:ln/>
        </p:spPr>
        <p:txBody>
          <a:bodyPr wrap="none" lIns="0" tIns="0" rIns="0" bIns="0" rtlCol="0" anchor="t"/>
          <a:lstStyle/>
          <a:p>
            <a:pPr marL="0" indent="0" algn="l">
              <a:lnSpc>
                <a:spcPts val="1550"/>
              </a:lnSpc>
              <a:buNone/>
            </a:pPr>
            <a:r>
              <a:rPr lang="en-US" sz="950" dirty="0">
                <a:solidFill>
                  <a:srgbClr val="000000"/>
                </a:solidFill>
                <a:latin typeface="Times New Roman" panose="02020603050405020304" pitchFamily="18" charset="0"/>
                <a:ea typeface="Open Sans" pitchFamily="34" charset="-122"/>
                <a:cs typeface="Times New Roman" panose="02020603050405020304" pitchFamily="18" charset="0"/>
              </a:rPr>
              <a:t>Коммерциялық орталық</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41871" y="314623"/>
            <a:ext cx="3982120" cy="345281"/>
          </a:xfrm>
          <a:prstGeom prst="rect">
            <a:avLst/>
          </a:prstGeom>
          <a:noFill/>
          <a:ln/>
        </p:spPr>
        <p:txBody>
          <a:bodyPr wrap="none" lIns="0" tIns="0" rIns="0" bIns="0" rtlCol="0" anchor="t"/>
          <a:lstStyle/>
          <a:p>
            <a:pPr marL="0" indent="0" algn="l">
              <a:lnSpc>
                <a:spcPts val="2700"/>
              </a:lnSpc>
              <a:buNone/>
            </a:pPr>
            <a:r>
              <a:rPr lang="en-US" sz="2150" b="1" dirty="0">
                <a:solidFill>
                  <a:srgbClr val="101014"/>
                </a:solidFill>
                <a:latin typeface="Times New Roman" panose="02020603050405020304" pitchFamily="18" charset="0"/>
                <a:ea typeface="Playfair Display Bold" pitchFamily="34" charset="-122"/>
                <a:cs typeface="Times New Roman" panose="02020603050405020304" pitchFamily="18" charset="0"/>
              </a:rPr>
              <a:t>Валюталық шок симуляторы</a:t>
            </a:r>
            <a:endParaRPr lang="en-US" sz="2150" dirty="0"/>
          </a:p>
        </p:txBody>
      </p:sp>
      <p:sp>
        <p:nvSpPr>
          <p:cNvPr id="4" name="Text 1"/>
          <p:cNvSpPr/>
          <p:nvPr/>
        </p:nvSpPr>
        <p:spPr>
          <a:xfrm>
            <a:off x="441871" y="807467"/>
            <a:ext cx="4831259" cy="668536"/>
          </a:xfrm>
          <a:prstGeom prst="rect">
            <a:avLst/>
          </a:prstGeom>
          <a:noFill/>
          <a:ln/>
        </p:spPr>
        <p:txBody>
          <a:bodyPr wrap="square" lIns="0" tIns="0" rIns="0" bIns="0" rtlCol="0" anchor="t"/>
          <a:lstStyle/>
          <a:p>
            <a:pPr marL="0" indent="0" algn="l">
              <a:lnSpc>
                <a:spcPts val="1300"/>
              </a:lnSpc>
              <a:buNone/>
            </a:pPr>
            <a:r>
              <a:rPr lang="en-US" sz="850" dirty="0">
                <a:solidFill>
                  <a:srgbClr val="39393C"/>
                </a:solidFill>
                <a:latin typeface="Times New Roman" panose="02020603050405020304" pitchFamily="18" charset="0"/>
                <a:ea typeface="Open Sans" pitchFamily="34" charset="-122"/>
                <a:cs typeface="Times New Roman" panose="02020603050405020304" pitchFamily="18" charset="0"/>
              </a:rPr>
              <a:t>Жобаға макроэкономикалық талдау модулі қосылды — бұл Қазақстан нарығы үшін ерекше маңызды инновация. Доллар курсының өзгеруі тұрғын үй бағасына тікелей әсер ететіндіктен, бұл модуль пайдаланушыларға нарықтық тәуекелдерді алдын ала бағалауға мүмкіндік береді.</a:t>
            </a:r>
            <a:endParaRPr lang="en-US" sz="850" dirty="0"/>
          </a:p>
        </p:txBody>
      </p:sp>
      <p:pic>
        <p:nvPicPr>
          <p:cNvPr id="5" name="Image 1" descr="preencoded.png"/>
          <p:cNvPicPr>
            <a:picLocks noChangeAspect="1"/>
          </p:cNvPicPr>
          <p:nvPr/>
        </p:nvPicPr>
        <p:blipFill>
          <a:blip r:embed="rId4"/>
          <a:stretch>
            <a:fillRect/>
          </a:stretch>
        </p:blipFill>
        <p:spPr>
          <a:xfrm>
            <a:off x="441871" y="1586657"/>
            <a:ext cx="552376" cy="786780"/>
          </a:xfrm>
          <a:prstGeom prst="rect">
            <a:avLst/>
          </a:prstGeom>
        </p:spPr>
      </p:pic>
      <p:sp>
        <p:nvSpPr>
          <p:cNvPr id="6" name="Text 2"/>
          <p:cNvSpPr/>
          <p:nvPr/>
        </p:nvSpPr>
        <p:spPr>
          <a:xfrm>
            <a:off x="1092622" y="1697087"/>
            <a:ext cx="1380976" cy="172641"/>
          </a:xfrm>
          <a:prstGeom prst="rect">
            <a:avLst/>
          </a:prstGeom>
          <a:noFill/>
          <a:ln/>
        </p:spPr>
        <p:txBody>
          <a:bodyPr wrap="none" lIns="0" tIns="0" rIns="0" bIns="0" rtlCol="0" anchor="t"/>
          <a:lstStyle/>
          <a:p>
            <a:pPr marL="0" indent="0" algn="l">
              <a:lnSpc>
                <a:spcPts val="1350"/>
              </a:lnSpc>
              <a:buNone/>
            </a:pPr>
            <a:r>
              <a:rPr lang="en-US" sz="1050" b="1" dirty="0">
                <a:solidFill>
                  <a:srgbClr val="39393C"/>
                </a:solidFill>
                <a:latin typeface="Times New Roman" panose="02020603050405020304" pitchFamily="18" charset="0"/>
                <a:ea typeface="Playfair Display Bold" pitchFamily="34" charset="-122"/>
                <a:cs typeface="Times New Roman" panose="02020603050405020304" pitchFamily="18" charset="0"/>
              </a:rPr>
              <a:t>Кіріс</a:t>
            </a:r>
            <a:endParaRPr lang="en-US" sz="1050" dirty="0"/>
          </a:p>
        </p:txBody>
      </p:sp>
      <p:sp>
        <p:nvSpPr>
          <p:cNvPr id="7" name="Text 3"/>
          <p:cNvSpPr/>
          <p:nvPr/>
        </p:nvSpPr>
        <p:spPr>
          <a:xfrm>
            <a:off x="1092622" y="1928738"/>
            <a:ext cx="4180508" cy="334268"/>
          </a:xfrm>
          <a:prstGeom prst="rect">
            <a:avLst/>
          </a:prstGeom>
          <a:noFill/>
          <a:ln/>
        </p:spPr>
        <p:txBody>
          <a:bodyPr wrap="square" lIns="0" tIns="0" rIns="0" bIns="0" rtlCol="0" anchor="t"/>
          <a:lstStyle/>
          <a:p>
            <a:pPr marL="0" indent="0" algn="l">
              <a:lnSpc>
                <a:spcPts val="1300"/>
              </a:lnSpc>
              <a:buNone/>
            </a:pPr>
            <a:r>
              <a:rPr lang="en-US" sz="850" dirty="0">
                <a:solidFill>
                  <a:srgbClr val="39393C"/>
                </a:solidFill>
                <a:latin typeface="Times New Roman" panose="02020603050405020304" pitchFamily="18" charset="0"/>
                <a:ea typeface="Open Sans" pitchFamily="34" charset="-122"/>
                <a:cs typeface="Times New Roman" panose="02020603050405020304" pitchFamily="18" charset="0"/>
              </a:rPr>
              <a:t>Пайдаланушы USD/KZT курсының болжамды өзгерісін енгізеді (мысалы, +10%, +20%)</a:t>
            </a:r>
            <a:endParaRPr lang="en-US" sz="850" dirty="0"/>
          </a:p>
        </p:txBody>
      </p:sp>
      <p:pic>
        <p:nvPicPr>
          <p:cNvPr id="8" name="Image 2" descr="preencoded.png"/>
          <p:cNvPicPr>
            <a:picLocks noChangeAspect="1"/>
          </p:cNvPicPr>
          <p:nvPr/>
        </p:nvPicPr>
        <p:blipFill>
          <a:blip r:embed="rId5"/>
          <a:stretch>
            <a:fillRect/>
          </a:stretch>
        </p:blipFill>
        <p:spPr>
          <a:xfrm>
            <a:off x="441871" y="2373437"/>
            <a:ext cx="552376" cy="786780"/>
          </a:xfrm>
          <a:prstGeom prst="rect">
            <a:avLst/>
          </a:prstGeom>
        </p:spPr>
      </p:pic>
      <p:sp>
        <p:nvSpPr>
          <p:cNvPr id="9" name="Text 4"/>
          <p:cNvSpPr/>
          <p:nvPr/>
        </p:nvSpPr>
        <p:spPr>
          <a:xfrm>
            <a:off x="1092622" y="2483867"/>
            <a:ext cx="1380976" cy="172641"/>
          </a:xfrm>
          <a:prstGeom prst="rect">
            <a:avLst/>
          </a:prstGeom>
          <a:noFill/>
          <a:ln/>
        </p:spPr>
        <p:txBody>
          <a:bodyPr wrap="none" lIns="0" tIns="0" rIns="0" bIns="0" rtlCol="0" anchor="t"/>
          <a:lstStyle/>
          <a:p>
            <a:pPr marL="0" indent="0" algn="l">
              <a:lnSpc>
                <a:spcPts val="1350"/>
              </a:lnSpc>
              <a:buNone/>
            </a:pPr>
            <a:r>
              <a:rPr lang="en-US" sz="1050" b="1" dirty="0">
                <a:solidFill>
                  <a:srgbClr val="39393C"/>
                </a:solidFill>
                <a:latin typeface="Times New Roman" panose="02020603050405020304" pitchFamily="18" charset="0"/>
                <a:ea typeface="Playfair Display Bold" pitchFamily="34" charset="-122"/>
                <a:cs typeface="Times New Roman" panose="02020603050405020304" pitchFamily="18" charset="0"/>
              </a:rPr>
              <a:t>Өңдеу</a:t>
            </a:r>
            <a:endParaRPr lang="en-US" sz="1050" dirty="0"/>
          </a:p>
        </p:txBody>
      </p:sp>
      <p:sp>
        <p:nvSpPr>
          <p:cNvPr id="10" name="Text 5"/>
          <p:cNvSpPr/>
          <p:nvPr/>
        </p:nvSpPr>
        <p:spPr>
          <a:xfrm>
            <a:off x="1092622" y="2715518"/>
            <a:ext cx="4180508" cy="334268"/>
          </a:xfrm>
          <a:prstGeom prst="rect">
            <a:avLst/>
          </a:prstGeom>
          <a:noFill/>
          <a:ln/>
        </p:spPr>
        <p:txBody>
          <a:bodyPr wrap="square" lIns="0" tIns="0" rIns="0" bIns="0" rtlCol="0" anchor="t"/>
          <a:lstStyle/>
          <a:p>
            <a:pPr marL="0" indent="0" algn="l">
              <a:lnSpc>
                <a:spcPts val="1300"/>
              </a:lnSpc>
              <a:buNone/>
            </a:pPr>
            <a:r>
              <a:rPr lang="en-US" sz="850" dirty="0">
                <a:solidFill>
                  <a:srgbClr val="39393C"/>
                </a:solidFill>
                <a:latin typeface="Times New Roman" panose="02020603050405020304" pitchFamily="18" charset="0"/>
                <a:ea typeface="Open Sans" pitchFamily="34" charset="-122"/>
                <a:cs typeface="Times New Roman" panose="02020603050405020304" pitchFamily="18" charset="0"/>
              </a:rPr>
              <a:t>Модель валюта курсының өзгеруіне байланысты үй бағасының қанша пайызға өсетінін нақты уақыт режимінде есептейді</a:t>
            </a:r>
            <a:endParaRPr lang="en-US" sz="850" dirty="0"/>
          </a:p>
        </p:txBody>
      </p:sp>
      <p:pic>
        <p:nvPicPr>
          <p:cNvPr id="11" name="Image 3" descr="preencoded.png"/>
          <p:cNvPicPr>
            <a:picLocks noChangeAspect="1"/>
          </p:cNvPicPr>
          <p:nvPr/>
        </p:nvPicPr>
        <p:blipFill>
          <a:blip r:embed="rId6"/>
          <a:stretch>
            <a:fillRect/>
          </a:stretch>
        </p:blipFill>
        <p:spPr>
          <a:xfrm>
            <a:off x="441871" y="3160216"/>
            <a:ext cx="552376" cy="786780"/>
          </a:xfrm>
          <a:prstGeom prst="rect">
            <a:avLst/>
          </a:prstGeom>
        </p:spPr>
      </p:pic>
      <p:sp>
        <p:nvSpPr>
          <p:cNvPr id="12" name="Text 6"/>
          <p:cNvSpPr/>
          <p:nvPr/>
        </p:nvSpPr>
        <p:spPr>
          <a:xfrm>
            <a:off x="1092622" y="3270647"/>
            <a:ext cx="1380976" cy="172641"/>
          </a:xfrm>
          <a:prstGeom prst="rect">
            <a:avLst/>
          </a:prstGeom>
          <a:noFill/>
          <a:ln/>
        </p:spPr>
        <p:txBody>
          <a:bodyPr wrap="none" lIns="0" tIns="0" rIns="0" bIns="0" rtlCol="0" anchor="t"/>
          <a:lstStyle/>
          <a:p>
            <a:pPr marL="0" indent="0" algn="l">
              <a:lnSpc>
                <a:spcPts val="1350"/>
              </a:lnSpc>
              <a:buNone/>
            </a:pPr>
            <a:r>
              <a:rPr lang="en-US" sz="1050" b="1" dirty="0">
                <a:solidFill>
                  <a:srgbClr val="39393C"/>
                </a:solidFill>
                <a:latin typeface="Times New Roman" panose="02020603050405020304" pitchFamily="18" charset="0"/>
                <a:ea typeface="Playfair Display Bold" pitchFamily="34" charset="-122"/>
                <a:cs typeface="Times New Roman" panose="02020603050405020304" pitchFamily="18" charset="0"/>
              </a:rPr>
              <a:t>Нәтиже</a:t>
            </a:r>
            <a:endParaRPr lang="en-US" sz="1050" dirty="0"/>
          </a:p>
        </p:txBody>
      </p:sp>
      <p:sp>
        <p:nvSpPr>
          <p:cNvPr id="13" name="Text 7"/>
          <p:cNvSpPr/>
          <p:nvPr/>
        </p:nvSpPr>
        <p:spPr>
          <a:xfrm>
            <a:off x="1092622" y="3502298"/>
            <a:ext cx="4180508" cy="334268"/>
          </a:xfrm>
          <a:prstGeom prst="rect">
            <a:avLst/>
          </a:prstGeom>
          <a:noFill/>
          <a:ln/>
        </p:spPr>
        <p:txBody>
          <a:bodyPr wrap="square" lIns="0" tIns="0" rIns="0" bIns="0" rtlCol="0" anchor="t"/>
          <a:lstStyle/>
          <a:p>
            <a:pPr marL="0" indent="0" algn="l">
              <a:lnSpc>
                <a:spcPts val="1300"/>
              </a:lnSpc>
              <a:buNone/>
            </a:pPr>
            <a:r>
              <a:rPr lang="en-US" sz="850" dirty="0">
                <a:solidFill>
                  <a:srgbClr val="39393C"/>
                </a:solidFill>
                <a:latin typeface="Times New Roman" panose="02020603050405020304" pitchFamily="18" charset="0"/>
                <a:ea typeface="Open Sans" pitchFamily="34" charset="-122"/>
                <a:cs typeface="Times New Roman" panose="02020603050405020304" pitchFamily="18" charset="0"/>
              </a:rPr>
              <a:t>Пайдаланушы нарықтағы инфляциялық күтулерді көре алады, бұл қаржылық тәуекелдерді азайтады және шешім қабылдауға көмектеседі</a:t>
            </a:r>
            <a:endParaRPr lang="en-US" sz="850" dirty="0"/>
          </a:p>
        </p:txBody>
      </p:sp>
      <p:sp>
        <p:nvSpPr>
          <p:cNvPr id="14" name="Shape 8"/>
          <p:cNvSpPr/>
          <p:nvPr/>
        </p:nvSpPr>
        <p:spPr>
          <a:xfrm>
            <a:off x="441871" y="4057650"/>
            <a:ext cx="4831259" cy="771153"/>
          </a:xfrm>
          <a:prstGeom prst="roundRect">
            <a:avLst>
              <a:gd name="adj" fmla="val 2149"/>
            </a:avLst>
          </a:prstGeom>
          <a:solidFill>
            <a:srgbClr val="FCF2B5"/>
          </a:solidFill>
          <a:ln/>
        </p:spPr>
      </p:sp>
      <p:pic>
        <p:nvPicPr>
          <p:cNvPr id="15" name="Image 4" descr="preencoded.png"/>
          <p:cNvPicPr>
            <a:picLocks noChangeAspect="1"/>
          </p:cNvPicPr>
          <p:nvPr/>
        </p:nvPicPr>
        <p:blipFill>
          <a:blip r:embed="rId7"/>
          <a:stretch>
            <a:fillRect/>
          </a:stretch>
        </p:blipFill>
        <p:spPr>
          <a:xfrm>
            <a:off x="552301" y="4222849"/>
            <a:ext cx="138038" cy="110430"/>
          </a:xfrm>
          <a:prstGeom prst="rect">
            <a:avLst/>
          </a:prstGeom>
        </p:spPr>
      </p:pic>
      <p:sp>
        <p:nvSpPr>
          <p:cNvPr id="16" name="Text 9"/>
          <p:cNvSpPr/>
          <p:nvPr/>
        </p:nvSpPr>
        <p:spPr>
          <a:xfrm>
            <a:off x="800770" y="4183633"/>
            <a:ext cx="4361929" cy="501402"/>
          </a:xfrm>
          <a:prstGeom prst="rect">
            <a:avLst/>
          </a:prstGeom>
          <a:noFill/>
          <a:ln/>
        </p:spPr>
        <p:txBody>
          <a:bodyPr wrap="square" lIns="0" tIns="0" rIns="0" bIns="0" rtlCol="0" anchor="t"/>
          <a:lstStyle/>
          <a:p>
            <a:pPr marL="0" indent="0" algn="l">
              <a:lnSpc>
                <a:spcPts val="1300"/>
              </a:lnSpc>
              <a:buNone/>
            </a:pPr>
            <a:r>
              <a:rPr lang="en-US" sz="850" dirty="0">
                <a:solidFill>
                  <a:srgbClr val="000000"/>
                </a:solidFill>
                <a:latin typeface="Times New Roman" panose="02020603050405020304" pitchFamily="18" charset="0"/>
                <a:ea typeface="Open Sans" pitchFamily="34" charset="-122"/>
                <a:cs typeface="Times New Roman" panose="02020603050405020304" pitchFamily="18" charset="0"/>
              </a:rPr>
              <a:t>Валюталық шок симуляторы — нарықта баламасы жоқ бірегей құрал. Инвесторлар мен жеке тұлғалар доллар курсының ауытқуы кезінде өз активтерінің құнын алдын ала болжай алады.</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72901" y="338956"/>
            <a:ext cx="5308625" cy="369466"/>
          </a:xfrm>
          <a:prstGeom prst="rect">
            <a:avLst/>
          </a:prstGeom>
          <a:noFill/>
          <a:ln/>
        </p:spPr>
        <p:txBody>
          <a:bodyPr wrap="none" lIns="0" tIns="0" rIns="0" bIns="0" rtlCol="0" anchor="t"/>
          <a:lstStyle/>
          <a:p>
            <a:pPr marL="0" indent="0" algn="l">
              <a:lnSpc>
                <a:spcPts val="2900"/>
              </a:lnSpc>
              <a:buNone/>
            </a:pPr>
            <a:r>
              <a:rPr lang="en-US" sz="2300" b="1" dirty="0">
                <a:solidFill>
                  <a:srgbClr val="101014"/>
                </a:solidFill>
                <a:latin typeface="Times New Roman" panose="02020603050405020304" pitchFamily="18" charset="0"/>
                <a:ea typeface="Playfair Display Bold" pitchFamily="34" charset="-122"/>
                <a:cs typeface="Times New Roman" panose="02020603050405020304" pitchFamily="18" charset="0"/>
              </a:rPr>
              <a:t>Техникалық іске асыру (Deployment)</a:t>
            </a:r>
            <a:endParaRPr lang="en-US" sz="2300" dirty="0"/>
          </a:p>
        </p:txBody>
      </p:sp>
      <p:sp>
        <p:nvSpPr>
          <p:cNvPr id="3" name="Text 1"/>
          <p:cNvSpPr/>
          <p:nvPr/>
        </p:nvSpPr>
        <p:spPr>
          <a:xfrm>
            <a:off x="472901" y="933748"/>
            <a:ext cx="8198197" cy="369391"/>
          </a:xfrm>
          <a:prstGeom prst="rect">
            <a:avLst/>
          </a:prstGeom>
          <a:noFill/>
          <a:ln/>
        </p:spPr>
        <p:txBody>
          <a:bodyPr wrap="square" lIns="0" tIns="0" rIns="0" bIns="0" rtlCol="0" anchor="t"/>
          <a:lstStyle/>
          <a:p>
            <a:pPr marL="0" indent="0" algn="l">
              <a:lnSpc>
                <a:spcPts val="14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Жоба екі түрлі платформада іске асырылды — бұл модельдің архитектуралық икемділігін дәлелдейді. Кәсіби пайдаланушылардан бастап қарапайым тұтынушыларға дейін барлық аудитория қамтылды.</a:t>
            </a:r>
            <a:endParaRPr lang="en-US" sz="900" dirty="0"/>
          </a:p>
        </p:txBody>
      </p:sp>
      <p:sp>
        <p:nvSpPr>
          <p:cNvPr id="5" name="Text 2"/>
          <p:cNvSpPr/>
          <p:nvPr/>
        </p:nvSpPr>
        <p:spPr>
          <a:xfrm>
            <a:off x="478956" y="3069178"/>
            <a:ext cx="1495351" cy="184696"/>
          </a:xfrm>
          <a:prstGeom prst="rect">
            <a:avLst/>
          </a:prstGeom>
          <a:noFill/>
          <a:ln/>
        </p:spPr>
        <p:txBody>
          <a:bodyPr wrap="none" lIns="0" tIns="0" rIns="0" bIns="0" rtlCol="0" anchor="t"/>
          <a:lstStyle/>
          <a:p>
            <a:pPr marL="0" indent="0" algn="l">
              <a:lnSpc>
                <a:spcPts val="1450"/>
              </a:lnSpc>
              <a:buNone/>
            </a:pPr>
            <a:r>
              <a:rPr lang="en-US" sz="1150" b="1" dirty="0">
                <a:solidFill>
                  <a:srgbClr val="39393C"/>
                </a:solidFill>
                <a:latin typeface="Times New Roman" panose="02020603050405020304" pitchFamily="18" charset="0"/>
                <a:ea typeface="Playfair Display Bold" pitchFamily="34" charset="-122"/>
                <a:cs typeface="Times New Roman" panose="02020603050405020304" pitchFamily="18" charset="0"/>
              </a:rPr>
              <a:t>Desktop App — PyQt6</a:t>
            </a:r>
            <a:endParaRPr lang="en-US" sz="1150" dirty="0"/>
          </a:p>
        </p:txBody>
      </p:sp>
      <p:sp>
        <p:nvSpPr>
          <p:cNvPr id="6" name="Text 3"/>
          <p:cNvSpPr/>
          <p:nvPr/>
        </p:nvSpPr>
        <p:spPr>
          <a:xfrm>
            <a:off x="472901" y="3267001"/>
            <a:ext cx="4028703" cy="738783"/>
          </a:xfrm>
          <a:prstGeom prst="rect">
            <a:avLst/>
          </a:prstGeom>
          <a:noFill/>
          <a:ln/>
        </p:spPr>
        <p:txBody>
          <a:bodyPr wrap="square" lIns="0" tIns="0" rIns="0" bIns="0" rtlCol="0" anchor="t"/>
          <a:lstStyle/>
          <a:p>
            <a:pPr marL="0" indent="0" algn="l">
              <a:lnSpc>
                <a:spcPts val="14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Кәсіби риэлторларға арналған дербес компьютерлік бағдарлама. Заманауи </a:t>
            </a:r>
            <a:r>
              <a:rPr lang="en-US" sz="900" b="1" dirty="0">
                <a:solidFill>
                  <a:srgbClr val="39393C"/>
                </a:solidFill>
                <a:latin typeface="Times New Roman" panose="02020603050405020304" pitchFamily="18" charset="0"/>
                <a:ea typeface="Open Sans" pitchFamily="34" charset="-122"/>
                <a:cs typeface="Times New Roman" panose="02020603050405020304" pitchFamily="18" charset="0"/>
              </a:rPr>
              <a:t>Dark UI</a:t>
            </a: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 интерфейсі кәсіби ортада жұмыс істеуге ыңғайлы. Деректерді офлайн режимде де өңдеуге мүмкіндік бар, бұл интернет қосылымы тұрақсыз аймақтарда маңызды.</a:t>
            </a:r>
            <a:endParaRPr lang="en-US" sz="900" dirty="0"/>
          </a:p>
        </p:txBody>
      </p:sp>
      <p:sp>
        <p:nvSpPr>
          <p:cNvPr id="8" name="Text 4"/>
          <p:cNvSpPr/>
          <p:nvPr/>
        </p:nvSpPr>
        <p:spPr>
          <a:xfrm>
            <a:off x="4642396" y="3014737"/>
            <a:ext cx="1477863" cy="184696"/>
          </a:xfrm>
          <a:prstGeom prst="rect">
            <a:avLst/>
          </a:prstGeom>
          <a:noFill/>
          <a:ln/>
        </p:spPr>
        <p:txBody>
          <a:bodyPr wrap="none" lIns="0" tIns="0" rIns="0" bIns="0" rtlCol="0" anchor="t"/>
          <a:lstStyle/>
          <a:p>
            <a:pPr marL="0" indent="0" algn="l">
              <a:lnSpc>
                <a:spcPts val="1450"/>
              </a:lnSpc>
              <a:buNone/>
            </a:pPr>
            <a:r>
              <a:rPr lang="en-US" sz="1150" b="1" dirty="0">
                <a:solidFill>
                  <a:srgbClr val="39393C"/>
                </a:solidFill>
                <a:latin typeface="Times New Roman" panose="02020603050405020304" pitchFamily="18" charset="0"/>
                <a:ea typeface="Playfair Display Bold" pitchFamily="34" charset="-122"/>
                <a:cs typeface="Times New Roman" panose="02020603050405020304" pitchFamily="18" charset="0"/>
              </a:rPr>
              <a:t>Web App — Streamlit</a:t>
            </a:r>
            <a:endParaRPr lang="en-US" sz="1150" dirty="0"/>
          </a:p>
        </p:txBody>
      </p:sp>
      <p:sp>
        <p:nvSpPr>
          <p:cNvPr id="9" name="Text 5"/>
          <p:cNvSpPr/>
          <p:nvPr/>
        </p:nvSpPr>
        <p:spPr>
          <a:xfrm>
            <a:off x="4642396" y="3267001"/>
            <a:ext cx="4028703" cy="738783"/>
          </a:xfrm>
          <a:prstGeom prst="rect">
            <a:avLst/>
          </a:prstGeom>
          <a:noFill/>
          <a:ln/>
        </p:spPr>
        <p:txBody>
          <a:bodyPr wrap="square" lIns="0" tIns="0" rIns="0" bIns="0" rtlCol="0" anchor="t"/>
          <a:lstStyle/>
          <a:p>
            <a:pPr marL="0" indent="0" algn="l">
              <a:lnSpc>
                <a:spcPts val="14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Қолданушыларға кез келген құрылғыдан — смартфон, планшет, ноутбук — қолжетімді онлайн веб-нұсқа. Орнату қажет емес, браузер арқылы тікелей жұмыс істейді. Бұл модельдің кросс-платформалық икемділігін көрсетеді.</a:t>
            </a:r>
            <a:endParaRPr lang="en-US" sz="900" dirty="0"/>
          </a:p>
        </p:txBody>
      </p:sp>
      <p:sp>
        <p:nvSpPr>
          <p:cNvPr id="10" name="Shape 6"/>
          <p:cNvSpPr/>
          <p:nvPr/>
        </p:nvSpPr>
        <p:spPr>
          <a:xfrm>
            <a:off x="472901" y="4132511"/>
            <a:ext cx="8198197" cy="672033"/>
          </a:xfrm>
          <a:prstGeom prst="roundRect">
            <a:avLst>
              <a:gd name="adj" fmla="val 2639"/>
            </a:avLst>
          </a:prstGeom>
          <a:solidFill>
            <a:srgbClr val="B6FCB8"/>
          </a:solidFill>
          <a:ln/>
        </p:spPr>
      </p:sp>
      <p:pic>
        <p:nvPicPr>
          <p:cNvPr id="11" name="Image 2" descr="preencoded.png"/>
          <p:cNvPicPr>
            <a:picLocks noChangeAspect="1"/>
          </p:cNvPicPr>
          <p:nvPr/>
        </p:nvPicPr>
        <p:blipFill>
          <a:blip r:embed="rId3"/>
          <a:stretch>
            <a:fillRect/>
          </a:stretch>
        </p:blipFill>
        <p:spPr>
          <a:xfrm>
            <a:off x="591071" y="4314899"/>
            <a:ext cx="147786" cy="118170"/>
          </a:xfrm>
          <a:prstGeom prst="rect">
            <a:avLst/>
          </a:prstGeom>
        </p:spPr>
      </p:pic>
      <p:sp>
        <p:nvSpPr>
          <p:cNvPr id="12" name="Text 7"/>
          <p:cNvSpPr/>
          <p:nvPr/>
        </p:nvSpPr>
        <p:spPr>
          <a:xfrm>
            <a:off x="857027" y="4274716"/>
            <a:ext cx="7695902" cy="369391"/>
          </a:xfrm>
          <a:prstGeom prst="rect">
            <a:avLst/>
          </a:prstGeom>
          <a:noFill/>
          <a:ln/>
        </p:spPr>
        <p:txBody>
          <a:bodyPr wrap="square" lIns="0" tIns="0" rIns="0" bIns="0" rtlCol="0" anchor="t"/>
          <a:lstStyle/>
          <a:p>
            <a:pPr marL="0" indent="0" algn="l">
              <a:lnSpc>
                <a:spcPts val="1450"/>
              </a:lnSpc>
              <a:buNone/>
            </a:pPr>
            <a:r>
              <a:rPr lang="en-US" sz="900" dirty="0">
                <a:solidFill>
                  <a:srgbClr val="000000"/>
                </a:solidFill>
                <a:latin typeface="Times New Roman" panose="02020603050405020304" pitchFamily="18" charset="0"/>
                <a:ea typeface="Open Sans" pitchFamily="34" charset="-122"/>
                <a:cs typeface="Times New Roman" panose="02020603050405020304" pitchFamily="18" charset="0"/>
              </a:rPr>
              <a:t>Екі платформа бірдей модель ядросын пайдаланады — нәтижелердің сәйкестігі 100% кепілдендірілген. Платформа таңдауы тек пайдаланушы ыңғайлылығына байланысты.</a:t>
            </a:r>
            <a:endParaRPr lang="en-US" sz="900" dirty="0"/>
          </a:p>
        </p:txBody>
      </p:sp>
      <p:pic>
        <p:nvPicPr>
          <p:cNvPr id="15" name="Рисунок 14">
            <a:extLst>
              <a:ext uri="{FF2B5EF4-FFF2-40B4-BE49-F238E27FC236}">
                <a16:creationId xmlns:a16="http://schemas.microsoft.com/office/drawing/2014/main" id="{CEFA174F-C4E9-B1A3-029E-082B10013B7B}"/>
              </a:ext>
            </a:extLst>
          </p:cNvPr>
          <p:cNvPicPr>
            <a:picLocks noChangeAspect="1"/>
          </p:cNvPicPr>
          <p:nvPr/>
        </p:nvPicPr>
        <p:blipFill>
          <a:blip r:embed="rId4"/>
          <a:stretch>
            <a:fillRect/>
          </a:stretch>
        </p:blipFill>
        <p:spPr>
          <a:xfrm>
            <a:off x="478956" y="1312465"/>
            <a:ext cx="2524636" cy="1747387"/>
          </a:xfrm>
          <a:prstGeom prst="rect">
            <a:avLst/>
          </a:prstGeom>
        </p:spPr>
      </p:pic>
      <p:sp>
        <p:nvSpPr>
          <p:cNvPr id="16" name="AutoShape 4">
            <a:extLst>
              <a:ext uri="{FF2B5EF4-FFF2-40B4-BE49-F238E27FC236}">
                <a16:creationId xmlns:a16="http://schemas.microsoft.com/office/drawing/2014/main" id="{DA478956-48F9-84C3-BA7C-2A50C71B229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KZ"/>
          </a:p>
        </p:txBody>
      </p:sp>
      <p:pic>
        <p:nvPicPr>
          <p:cNvPr id="19" name="Рисунок 18">
            <a:extLst>
              <a:ext uri="{FF2B5EF4-FFF2-40B4-BE49-F238E27FC236}">
                <a16:creationId xmlns:a16="http://schemas.microsoft.com/office/drawing/2014/main" id="{F5B492DF-AC80-C56C-C885-2A8754C3032B}"/>
              </a:ext>
            </a:extLst>
          </p:cNvPr>
          <p:cNvPicPr>
            <a:picLocks noChangeAspect="1"/>
          </p:cNvPicPr>
          <p:nvPr/>
        </p:nvPicPr>
        <p:blipFill>
          <a:blip r:embed="rId5"/>
          <a:stretch>
            <a:fillRect/>
          </a:stretch>
        </p:blipFill>
        <p:spPr>
          <a:xfrm>
            <a:off x="4501604" y="1307602"/>
            <a:ext cx="2993501" cy="16183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72901" y="352648"/>
            <a:ext cx="2955727" cy="369466"/>
          </a:xfrm>
          <a:prstGeom prst="rect">
            <a:avLst/>
          </a:prstGeom>
          <a:noFill/>
          <a:ln/>
        </p:spPr>
        <p:txBody>
          <a:bodyPr wrap="none" lIns="0" tIns="0" rIns="0" bIns="0" rtlCol="0" anchor="t"/>
          <a:lstStyle/>
          <a:p>
            <a:pPr marL="0" indent="0" algn="l">
              <a:lnSpc>
                <a:spcPts val="2900"/>
              </a:lnSpc>
              <a:buNone/>
            </a:pPr>
            <a:r>
              <a:rPr lang="en-US" sz="2300" b="1" dirty="0">
                <a:solidFill>
                  <a:srgbClr val="101014"/>
                </a:solidFill>
                <a:latin typeface="Times New Roman" panose="02020603050405020304" pitchFamily="18" charset="0"/>
                <a:ea typeface="Playfair Display Bold" pitchFamily="34" charset="-122"/>
                <a:cs typeface="Times New Roman" panose="02020603050405020304" pitchFamily="18" charset="0"/>
              </a:rPr>
              <a:t>Қорытынды</a:t>
            </a:r>
            <a:endParaRPr lang="en-US" sz="2300" dirty="0"/>
          </a:p>
        </p:txBody>
      </p:sp>
      <p:sp>
        <p:nvSpPr>
          <p:cNvPr id="4" name="Shape 1"/>
          <p:cNvSpPr/>
          <p:nvPr/>
        </p:nvSpPr>
        <p:spPr>
          <a:xfrm>
            <a:off x="472901" y="891108"/>
            <a:ext cx="2328267" cy="1795760"/>
          </a:xfrm>
          <a:prstGeom prst="roundRect">
            <a:avLst>
              <a:gd name="adj" fmla="val 988"/>
            </a:avLst>
          </a:prstGeom>
          <a:solidFill>
            <a:srgbClr val="E0E0EC"/>
          </a:solidFill>
          <a:ln/>
        </p:spPr>
      </p:sp>
      <p:sp>
        <p:nvSpPr>
          <p:cNvPr id="5" name="Text 2"/>
          <p:cNvSpPr/>
          <p:nvPr/>
        </p:nvSpPr>
        <p:spPr>
          <a:xfrm>
            <a:off x="591071" y="1009278"/>
            <a:ext cx="1477863" cy="198983"/>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Times New Roman" panose="02020603050405020304" pitchFamily="18" charset="0"/>
                <a:ea typeface="Playfair Display Bold" pitchFamily="34" charset="-122"/>
                <a:cs typeface="Times New Roman" panose="02020603050405020304" pitchFamily="18" charset="0"/>
              </a:rPr>
              <a:t>🎯</a:t>
            </a:r>
            <a:r>
              <a:rPr lang="en-US" sz="1150" b="1" dirty="0">
                <a:solidFill>
                  <a:srgbClr val="39393C"/>
                </a:solidFill>
                <a:latin typeface="Times New Roman" panose="02020603050405020304" pitchFamily="18" charset="0"/>
                <a:ea typeface="Playfair Display Bold" pitchFamily="34" charset="-122"/>
                <a:cs typeface="Times New Roman" panose="02020603050405020304" pitchFamily="18" charset="0"/>
              </a:rPr>
              <a:t> Негізгі нәтиже</a:t>
            </a:r>
            <a:endParaRPr lang="en-US" sz="1150" dirty="0"/>
          </a:p>
        </p:txBody>
      </p:sp>
      <p:sp>
        <p:nvSpPr>
          <p:cNvPr id="6" name="Text 3"/>
          <p:cNvSpPr/>
          <p:nvPr/>
        </p:nvSpPr>
        <p:spPr>
          <a:xfrm>
            <a:off x="591071" y="1275829"/>
            <a:ext cx="2091928" cy="1292870"/>
          </a:xfrm>
          <a:prstGeom prst="rect">
            <a:avLst/>
          </a:prstGeom>
          <a:noFill/>
          <a:ln/>
        </p:spPr>
        <p:txBody>
          <a:bodyPr wrap="square" lIns="0" tIns="0" rIns="0" bIns="0" rtlCol="0" anchor="t"/>
          <a:lstStyle/>
          <a:p>
            <a:pPr marL="0" indent="0" algn="l">
              <a:lnSpc>
                <a:spcPts val="14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Машиналық оқыту технологиясы Қызылорда нарығындағы баға белгілеуді толық цифрландыруға мүмкіндік береді. R² = 81.2% дәлдік көрсеткіші модельдің нарықтық шындықты сенімді көрсететінін дәлелдейді.</a:t>
            </a:r>
            <a:endParaRPr lang="en-US" sz="900" dirty="0"/>
          </a:p>
        </p:txBody>
      </p:sp>
      <p:sp>
        <p:nvSpPr>
          <p:cNvPr id="7" name="Shape 4"/>
          <p:cNvSpPr/>
          <p:nvPr/>
        </p:nvSpPr>
        <p:spPr>
          <a:xfrm>
            <a:off x="2913831" y="891108"/>
            <a:ext cx="2328267" cy="1795760"/>
          </a:xfrm>
          <a:prstGeom prst="roundRect">
            <a:avLst>
              <a:gd name="adj" fmla="val 988"/>
            </a:avLst>
          </a:prstGeom>
          <a:solidFill>
            <a:srgbClr val="E0E0EC"/>
          </a:solidFill>
          <a:ln/>
        </p:spPr>
      </p:sp>
      <p:sp>
        <p:nvSpPr>
          <p:cNvPr id="8" name="Text 5"/>
          <p:cNvSpPr/>
          <p:nvPr/>
        </p:nvSpPr>
        <p:spPr>
          <a:xfrm>
            <a:off x="3032001" y="1009278"/>
            <a:ext cx="1516931" cy="198983"/>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Times New Roman" panose="02020603050405020304" pitchFamily="18" charset="0"/>
                <a:ea typeface="Playfair Display Bold" pitchFamily="34" charset="-122"/>
                <a:cs typeface="Times New Roman" panose="02020603050405020304" pitchFamily="18" charset="0"/>
              </a:rPr>
              <a:t>👥</a:t>
            </a:r>
            <a:r>
              <a:rPr lang="en-US" sz="1150" b="1" dirty="0">
                <a:solidFill>
                  <a:srgbClr val="39393C"/>
                </a:solidFill>
                <a:latin typeface="Times New Roman" panose="02020603050405020304" pitchFamily="18" charset="0"/>
                <a:ea typeface="Playfair Display Bold" pitchFamily="34" charset="-122"/>
                <a:cs typeface="Times New Roman" panose="02020603050405020304" pitchFamily="18" charset="0"/>
              </a:rPr>
              <a:t> Пайдаланушылар</a:t>
            </a:r>
            <a:endParaRPr lang="en-US" sz="1150" dirty="0"/>
          </a:p>
        </p:txBody>
      </p:sp>
      <p:sp>
        <p:nvSpPr>
          <p:cNvPr id="9" name="Text 6"/>
          <p:cNvSpPr/>
          <p:nvPr/>
        </p:nvSpPr>
        <p:spPr>
          <a:xfrm>
            <a:off x="3032001" y="1275829"/>
            <a:ext cx="2091928" cy="1108174"/>
          </a:xfrm>
          <a:prstGeom prst="rect">
            <a:avLst/>
          </a:prstGeom>
          <a:noFill/>
          <a:ln/>
        </p:spPr>
        <p:txBody>
          <a:bodyPr wrap="square" lIns="0" tIns="0" rIns="0" bIns="0" rtlCol="0" anchor="t"/>
          <a:lstStyle/>
          <a:p>
            <a:pPr marL="0" indent="0" algn="l">
              <a:lnSpc>
                <a:spcPts val="14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Әзірленген жүйе — риэлторлар, инвесторлар және жеке тұлғалар үшін дайын аналитикалық өнім. Desktop және Web платформалары арқылы барлық аудитория қамтылған.</a:t>
            </a:r>
            <a:endParaRPr lang="en-US" sz="900" dirty="0"/>
          </a:p>
        </p:txBody>
      </p:sp>
      <p:sp>
        <p:nvSpPr>
          <p:cNvPr id="10" name="Shape 7"/>
          <p:cNvSpPr/>
          <p:nvPr/>
        </p:nvSpPr>
        <p:spPr>
          <a:xfrm>
            <a:off x="472901" y="2799531"/>
            <a:ext cx="4769197" cy="1056977"/>
          </a:xfrm>
          <a:prstGeom prst="roundRect">
            <a:avLst>
              <a:gd name="adj" fmla="val 1678"/>
            </a:avLst>
          </a:prstGeom>
          <a:solidFill>
            <a:srgbClr val="E0E0EC"/>
          </a:solidFill>
          <a:ln/>
        </p:spPr>
      </p:sp>
      <p:sp>
        <p:nvSpPr>
          <p:cNvPr id="11" name="Text 8"/>
          <p:cNvSpPr/>
          <p:nvPr/>
        </p:nvSpPr>
        <p:spPr>
          <a:xfrm>
            <a:off x="591071" y="2917701"/>
            <a:ext cx="1477863" cy="198983"/>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Times New Roman" panose="02020603050405020304" pitchFamily="18" charset="0"/>
                <a:ea typeface="Playfair Display Bold" pitchFamily="34" charset="-122"/>
                <a:cs typeface="Times New Roman" panose="02020603050405020304" pitchFamily="18" charset="0"/>
              </a:rPr>
              <a:t>🚀</a:t>
            </a:r>
            <a:r>
              <a:rPr lang="en-US" sz="1150" b="1" dirty="0">
                <a:solidFill>
                  <a:srgbClr val="39393C"/>
                </a:solidFill>
                <a:latin typeface="Times New Roman" panose="02020603050405020304" pitchFamily="18" charset="0"/>
                <a:ea typeface="Playfair Display Bold" pitchFamily="34" charset="-122"/>
                <a:cs typeface="Times New Roman" panose="02020603050405020304" pitchFamily="18" charset="0"/>
              </a:rPr>
              <a:t> Болашақ жоспар</a:t>
            </a:r>
            <a:endParaRPr lang="en-US" sz="1150" dirty="0"/>
          </a:p>
        </p:txBody>
      </p:sp>
      <p:sp>
        <p:nvSpPr>
          <p:cNvPr id="12" name="Text 9"/>
          <p:cNvSpPr/>
          <p:nvPr/>
        </p:nvSpPr>
        <p:spPr>
          <a:xfrm>
            <a:off x="591071" y="3184252"/>
            <a:ext cx="4532858" cy="554087"/>
          </a:xfrm>
          <a:prstGeom prst="rect">
            <a:avLst/>
          </a:prstGeom>
          <a:noFill/>
          <a:ln/>
        </p:spPr>
        <p:txBody>
          <a:bodyPr wrap="square" lIns="0" tIns="0" rIns="0" bIns="0" rtlCol="0" anchor="t"/>
          <a:lstStyle/>
          <a:p>
            <a:pPr marL="0" indent="0" algn="l">
              <a:lnSpc>
                <a:spcPts val="1450"/>
              </a:lnSpc>
              <a:buNone/>
            </a:pP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Модельді нақты уақыттағы Big Data деректерімен толықтыру арқылы дәлдікті </a:t>
            </a:r>
            <a:r>
              <a:rPr lang="en-US" sz="900" b="1" dirty="0">
                <a:solidFill>
                  <a:srgbClr val="39393C"/>
                </a:solidFill>
                <a:latin typeface="Times New Roman" panose="02020603050405020304" pitchFamily="18" charset="0"/>
                <a:ea typeface="Open Sans" pitchFamily="34" charset="-122"/>
                <a:cs typeface="Times New Roman" panose="02020603050405020304" pitchFamily="18" charset="0"/>
              </a:rPr>
              <a:t>90%+</a:t>
            </a:r>
            <a:r>
              <a:rPr lang="en-US" sz="900" dirty="0">
                <a:solidFill>
                  <a:srgbClr val="39393C"/>
                </a:solidFill>
                <a:latin typeface="Times New Roman" panose="02020603050405020304" pitchFamily="18" charset="0"/>
                <a:ea typeface="Open Sans" pitchFamily="34" charset="-122"/>
                <a:cs typeface="Times New Roman" panose="02020603050405020304" pitchFamily="18" charset="0"/>
              </a:rPr>
              <a:t> деңгейіне жеткізу жоспарлануда. Нарықтық деректерді автоматты жинау жүйесін интеграциялау — келесі кезең.</a:t>
            </a:r>
            <a:endParaRPr lang="en-US" sz="900" dirty="0"/>
          </a:p>
        </p:txBody>
      </p:sp>
      <p:sp>
        <p:nvSpPr>
          <p:cNvPr id="13" name="Text 10"/>
          <p:cNvSpPr/>
          <p:nvPr/>
        </p:nvSpPr>
        <p:spPr>
          <a:xfrm>
            <a:off x="650230" y="4109963"/>
            <a:ext cx="4591869" cy="554087"/>
          </a:xfrm>
          <a:prstGeom prst="rect">
            <a:avLst/>
          </a:prstGeom>
          <a:noFill/>
          <a:ln/>
        </p:spPr>
        <p:txBody>
          <a:bodyPr wrap="square" lIns="0" tIns="0" rIns="0" bIns="0" rtlCol="0" anchor="t"/>
          <a:lstStyle/>
          <a:p>
            <a:pPr marL="0" indent="0" algn="l">
              <a:lnSpc>
                <a:spcPts val="1450"/>
              </a:lnSpc>
              <a:buNone/>
            </a:pP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919</Words>
  <Application>Microsoft Office PowerPoint</Application>
  <PresentationFormat>Экран (16:9)</PresentationFormat>
  <Paragraphs>92</Paragraphs>
  <Slides>9</Slides>
  <Notes>9</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9</vt:i4>
      </vt:variant>
    </vt:vector>
  </HeadingPairs>
  <TitlesOfParts>
    <vt:vector size="12" baseType="lpstr">
      <vt:lpstr>Times New Roman</vt:lpstr>
      <vt:lpstr>Arial</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Нуралы Ашабай</cp:lastModifiedBy>
  <cp:revision>5</cp:revision>
  <dcterms:created xsi:type="dcterms:W3CDTF">2026-05-10T22:50:45Z</dcterms:created>
  <dcterms:modified xsi:type="dcterms:W3CDTF">2026-05-12T04:20:24Z</dcterms:modified>
</cp:coreProperties>
</file>